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7" r:id="rId4"/>
    <p:sldId id="271" r:id="rId5"/>
    <p:sldId id="272" r:id="rId6"/>
    <p:sldId id="274" r:id="rId7"/>
    <p:sldId id="275" r:id="rId8"/>
    <p:sldId id="277" r:id="rId9"/>
    <p:sldId id="270" r:id="rId10"/>
    <p:sldId id="278" r:id="rId11"/>
    <p:sldId id="282" r:id="rId12"/>
    <p:sldId id="283" r:id="rId13"/>
    <p:sldId id="279" r:id="rId14"/>
    <p:sldId id="28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FF9CD4B5-3377-4B83-9C51-9489172E8BCA}">
          <p14:sldIdLst>
            <p14:sldId id="256"/>
          </p14:sldIdLst>
        </p14:section>
        <p14:section name="목차" id="{CDE1978D-6857-44FA-869F-6901848E5A94}">
          <p14:sldIdLst>
            <p14:sldId id="258"/>
          </p14:sldIdLst>
        </p14:section>
        <p14:section name="문서에 들어가기 앞서" id="{057864E6-C10A-40DA-AF13-FDE8B11F47DE}">
          <p14:sldIdLst>
            <p14:sldId id="257"/>
            <p14:sldId id="271"/>
            <p14:sldId id="272"/>
          </p14:sldIdLst>
        </p14:section>
        <p14:section name="01 전체흐름" id="{6E515F21-9AB6-446A-BFD8-C38C46FF164E}">
          <p14:sldIdLst>
            <p14:sldId id="274"/>
            <p14:sldId id="275"/>
            <p14:sldId id="277"/>
            <p14:sldId id="270"/>
            <p14:sldId id="278"/>
          </p14:sldIdLst>
        </p14:section>
        <p14:section name="02 스테이지별 구성 요소" id="{D6E0C8A4-510F-4DEF-81E6-DEB6120A6AFB}">
          <p14:sldIdLst>
            <p14:sldId id="282"/>
            <p14:sldId id="283"/>
          </p14:sldIdLst>
        </p14:section>
        <p14:section name="스테이지별 컨셉" id="{D85D41DE-D21F-4162-9CAC-01F7CE915B92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DA8"/>
    <a:srgbClr val="215F9A"/>
    <a:srgbClr val="C27DDD"/>
    <a:srgbClr val="E8E8E8"/>
    <a:srgbClr val="57658B"/>
    <a:srgbClr val="F7DAB3"/>
    <a:srgbClr val="F7E9B2"/>
    <a:srgbClr val="F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3" autoAdjust="0"/>
    <p:restoredTop sz="94660"/>
  </p:normalViewPr>
  <p:slideViewPr>
    <p:cSldViewPr snapToGrid="0">
      <p:cViewPr>
        <p:scale>
          <a:sx n="66" d="100"/>
          <a:sy n="66" d="100"/>
        </p:scale>
        <p:origin x="145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18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767926D-BC13-354A-D629-2C1B7566BC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50E833-C128-BA15-BF1B-7C60DC09CC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B0692-B73F-43FC-9C34-05467ED8D404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E58FFF-BCC7-BB06-2FA9-FE37FF64E8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B74EB4-68F0-E68E-1DBC-9115BD0BE1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FD0B2-F438-4C1A-BBBC-7492BD611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161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7:41:4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7:41:4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14:20:5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DACCE-7987-41D1-8158-D6C939F8A286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2BA65-86AD-4E69-83F0-649A77A2F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6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BA65-86AD-4E69-83F0-649A77A2FD4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161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BA65-86AD-4E69-83F0-649A77A2FD4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80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3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74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35299-C964-F815-9B5C-2633AF1F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E9309D-BC54-7A61-BFC7-80CF8361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2E195F-78B1-6726-B8CB-9C155EBF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2445D-1F25-22A0-AC88-9F6DF57E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73FC8-DF12-1BDC-6E9A-EF08EAB6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66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B672F-E316-D7F7-2673-609DE8B8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21475-2FA9-929A-4552-3537C4C64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87341A-A240-E86E-C427-3394BCDF7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C6FBD-B31E-457E-A744-C97F04E1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23513D-A30A-16AE-F2BA-46D26315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0374E6-0BFD-0398-A518-B0A818AB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43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CBC09-C3AA-91B5-2D45-1503B8DD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8FC3B-DF7B-36A8-8AF9-3BC41A78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2368E2-6CF3-F9AE-3BCF-952113B27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EC5EF1-6946-913D-42FB-491370B69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472594-4130-C5F7-3434-AAF72CE8C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ADDB82-2AE2-470F-04A6-CCCF6342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0EB95-8DD9-8D52-CDA2-909D0C49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CB442E-A963-657B-1AFE-BCE2CD94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40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15521-4B75-DFAA-BB91-9F22376E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BEA218-5E22-E860-40F8-2DF05E9F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CB49A0-E87C-DDF4-E720-42F0A646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615CE9-5693-1854-442C-123D3CFF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46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C651D4-1C11-ABF9-851E-554A5293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D232B8-9259-A673-6468-298A0B84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141BD0-26A6-2059-5B03-46A69DE2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05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081AD-1ABF-D8C8-EA94-CC627E2B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B2969-F41A-EE4D-6B46-CC334E39D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FCAC08-43CA-30FC-334D-46CF6D59E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2D696C-9ED8-9347-C932-2DFC8F0074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2E1BFC-671C-0702-6485-F6D081DF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175761-F1A5-9C6C-45DD-614BE6B6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63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FC371-3DC9-A517-3A72-7B4AC332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5D1148-6DE4-BB47-9012-9E5BC018A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C3605B-8D46-3C85-ACE0-C84748A87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DC15EF-1AD2-9EEE-91FD-753D7C1C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D7F2D-83BF-7446-8EB5-BAF036F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D2FFD2-9641-959E-DE03-F02E00D7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460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5AF90-E76F-999A-8168-0D2E22F71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4CF502-6E64-E50C-0CF7-8EDC3B54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4E0FF8-65AD-E74D-4C16-81E31DE6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AEC8C3-9EC9-9BE9-2FDF-C30CECBF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88A0A-D35A-D051-D043-302BA454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73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4F1C8C-EEC0-CFA6-AEF2-25A76BF28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42E035-AD42-5D7D-4145-139A46FAE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56151-01BB-3CCF-5848-87BE1479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93B37-CD88-4044-B7FD-C6B0EFAEB392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34828-2182-D368-86E5-A03D2D06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5E3A4-ED01-4BB7-C6FB-91EA5287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6A97CA-A895-4B71-A567-12DFB6730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3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액자 11">
            <a:extLst>
              <a:ext uri="{FF2B5EF4-FFF2-40B4-BE49-F238E27FC236}">
                <a16:creationId xmlns:a16="http://schemas.microsoft.com/office/drawing/2014/main" id="{DD9765C9-E4BA-449F-F28E-454127AC5C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385"/>
            </a:avLst>
          </a:prstGeom>
          <a:gradFill>
            <a:gsLst>
              <a:gs pos="31000">
                <a:srgbClr val="F7E5B2"/>
              </a:gs>
              <a:gs pos="0">
                <a:schemeClr val="tx2">
                  <a:lumMod val="10000"/>
                  <a:lumOff val="90000"/>
                </a:schemeClr>
              </a:gs>
              <a:gs pos="100000">
                <a:srgbClr val="F9D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4" name="그림 13" descr="73,000개 이상의 양파 스톡 일러스트, Royalty-Free 벡터 그래픽 및 클립 아트 - iStock">
            <a:extLst>
              <a:ext uri="{FF2B5EF4-FFF2-40B4-BE49-F238E27FC236}">
                <a16:creationId xmlns:a16="http://schemas.microsoft.com/office/drawing/2014/main" id="{88EDC4B9-9162-51ED-8209-74094244A3C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alphaModFix amt="7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9137" y="482137"/>
            <a:ext cx="5893725" cy="5893725"/>
          </a:xfrm>
          <a:prstGeom prst="rect">
            <a:avLst/>
          </a:prstGeom>
        </p:spPr>
      </p:pic>
      <p:pic>
        <p:nvPicPr>
          <p:cNvPr id="20" name="그림 19" descr="73,000개 이상의 양파 스톡 일러스트, Royalty-Free 벡터 그래픽 및 클립 아트 - iStock">
            <a:extLst>
              <a:ext uri="{FF2B5EF4-FFF2-40B4-BE49-F238E27FC236}">
                <a16:creationId xmlns:a16="http://schemas.microsoft.com/office/drawing/2014/main" id="{AA067229-6D1A-E577-2B8A-3E1F2E1BF39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alphaModFix amt="7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4395" y="487392"/>
            <a:ext cx="5893725" cy="58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5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2.png"/><Relationship Id="rId3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D2B4A-51C2-9875-A0F5-977A6D59F877}"/>
              </a:ext>
            </a:extLst>
          </p:cNvPr>
          <p:cNvSpPr txBox="1"/>
          <p:nvPr/>
        </p:nvSpPr>
        <p:spPr>
          <a:xfrm>
            <a:off x="3482546" y="2455046"/>
            <a:ext cx="52269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atin typeface="HY견고딕" panose="02030600000101010101" pitchFamily="18" charset="-127"/>
                <a:ea typeface="HY견고딕" panose="02030600000101010101" pitchFamily="18" charset="-127"/>
              </a:rPr>
              <a:t>Cooked!</a:t>
            </a:r>
            <a:endParaRPr lang="ko-KR" altLang="en-US" sz="8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6EC81-1592-8EA9-73A3-8EB354B02C2C}"/>
              </a:ext>
            </a:extLst>
          </p:cNvPr>
          <p:cNvSpPr txBox="1"/>
          <p:nvPr/>
        </p:nvSpPr>
        <p:spPr>
          <a:xfrm>
            <a:off x="3048930" y="3778485"/>
            <a:ext cx="60941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레벨디자인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166C9-FE2B-8CEE-F408-0A8AAE01C475}"/>
              </a:ext>
            </a:extLst>
          </p:cNvPr>
          <p:cNvSpPr txBox="1"/>
          <p:nvPr/>
        </p:nvSpPr>
        <p:spPr>
          <a:xfrm>
            <a:off x="246256" y="217530"/>
            <a:ext cx="6094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작성자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_202513146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김하늘</a:t>
            </a:r>
          </a:p>
        </p:txBody>
      </p:sp>
    </p:spTree>
    <p:extLst>
      <p:ext uri="{BB962C8B-B14F-4D97-AF65-F5344CB8AC3E}">
        <p14:creationId xmlns:p14="http://schemas.microsoft.com/office/powerpoint/2010/main" val="347406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AF99-3E70-140D-9585-72FA161C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C41339-C1CC-7A02-A8CB-6B3D94DA7507}"/>
              </a:ext>
            </a:extLst>
          </p:cNvPr>
          <p:cNvSpPr txBox="1"/>
          <p:nvPr/>
        </p:nvSpPr>
        <p:spPr>
          <a:xfrm>
            <a:off x="1219562" y="1430663"/>
            <a:ext cx="25245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01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0E600-FA94-E538-2FF3-7DB36F38F9B5}"/>
              </a:ext>
            </a:extLst>
          </p:cNvPr>
          <p:cNvSpPr txBox="1"/>
          <p:nvPr/>
        </p:nvSpPr>
        <p:spPr>
          <a:xfrm>
            <a:off x="421846" y="270646"/>
            <a:ext cx="25245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latin typeface="HY견고딕" panose="02030600000101010101" pitchFamily="18" charset="-127"/>
                <a:ea typeface="HY견고딕" panose="02030600000101010101" pitchFamily="18" charset="-127"/>
              </a:rPr>
              <a:t>00 </a:t>
            </a:r>
            <a:r>
              <a:rPr lang="ko-KR" altLang="en-US" sz="5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3B2E29-492B-4AB2-2323-EA5AE776B424}"/>
              </a:ext>
            </a:extLst>
          </p:cNvPr>
          <p:cNvSpPr txBox="1"/>
          <p:nvPr/>
        </p:nvSpPr>
        <p:spPr>
          <a:xfrm>
            <a:off x="3366762" y="3265311"/>
            <a:ext cx="59410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02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스테이지별 구성 요소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B9626-84D2-95AE-3BFA-7892695920AF}"/>
              </a:ext>
            </a:extLst>
          </p:cNvPr>
          <p:cNvSpPr txBox="1"/>
          <p:nvPr/>
        </p:nvSpPr>
        <p:spPr>
          <a:xfrm>
            <a:off x="6753922" y="4848536"/>
            <a:ext cx="35984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03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스테이지별 컨셉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C043D-7FA3-3C7B-AEA4-7104CB521DBF}"/>
              </a:ext>
            </a:extLst>
          </p:cNvPr>
          <p:cNvSpPr txBox="1"/>
          <p:nvPr/>
        </p:nvSpPr>
        <p:spPr>
          <a:xfrm>
            <a:off x="1570684" y="1970222"/>
            <a:ext cx="3291248" cy="127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학습 정보 순서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 요약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레벨 배치 시 특이 사항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29B1E8-44AB-75AD-9F6E-3F9ABE8C652D}"/>
              </a:ext>
            </a:extLst>
          </p:cNvPr>
          <p:cNvSpPr txBox="1"/>
          <p:nvPr/>
        </p:nvSpPr>
        <p:spPr>
          <a:xfrm>
            <a:off x="3902698" y="3849896"/>
            <a:ext cx="4072902" cy="85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스테이지별 달성 목표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및 의도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등장 요소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플랫폼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FEBA65-E998-0D81-3B36-537E9D4C09B2}"/>
              </a:ext>
            </a:extLst>
          </p:cNvPr>
          <p:cNvSpPr txBox="1"/>
          <p:nvPr/>
        </p:nvSpPr>
        <p:spPr>
          <a:xfrm>
            <a:off x="7453844" y="5402534"/>
            <a:ext cx="4014256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버그 컨셉 플랫폼 배치정도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160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E39CCB-EF83-0CE6-765F-C5C4F2DA02F9}"/>
              </a:ext>
            </a:extLst>
          </p:cNvPr>
          <p:cNvSpPr txBox="1"/>
          <p:nvPr/>
        </p:nvSpPr>
        <p:spPr>
          <a:xfrm>
            <a:off x="421846" y="270646"/>
            <a:ext cx="543285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00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문서에 들어가기 앞서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67B86-16AA-638A-6034-D1400C3D9452}"/>
              </a:ext>
            </a:extLst>
          </p:cNvPr>
          <p:cNvSpPr txBox="1"/>
          <p:nvPr/>
        </p:nvSpPr>
        <p:spPr>
          <a:xfrm>
            <a:off x="1377026" y="2033789"/>
            <a:ext cx="10389968" cy="943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문서에서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스테이지는 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체크포인트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 err="1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리스폰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지점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)’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를 기준으로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정의하며</a:t>
            </a:r>
            <a:b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레벨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한 개당 하나의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씬만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구성한다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E7090221-2184-112E-E31B-AAA2E8D755A8}"/>
                  </a:ext>
                </a:extLst>
              </p14:cNvPr>
              <p14:cNvContentPartPr/>
              <p14:nvPr/>
            </p14:nvContentPartPr>
            <p14:xfrm>
              <a:off x="6572010" y="1504935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E7090221-2184-112E-E31B-AAA2E8D755A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65890" y="14988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AC7F4F-712D-FB6C-0D4A-3E4C25C9839B}"/>
              </a:ext>
            </a:extLst>
          </p:cNvPr>
          <p:cNvSpPr txBox="1"/>
          <p:nvPr/>
        </p:nvSpPr>
        <p:spPr>
          <a:xfrm>
            <a:off x="1380186" y="5165071"/>
            <a:ext cx="10389968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문서는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쿼터뷰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전환과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탐사 구간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＇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을 제외한 레벨을 서술한다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.(ver1.0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기준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문서의 레벨 배치는 최종이 아니며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밸런싱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단계에서 변동될 수 있음을 명시한다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b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lang="ko-KR" altLang="en-US" sz="1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 </a:t>
            </a:r>
            <a:r>
              <a:rPr lang="ko-KR" altLang="en-US" sz="1400" dirty="0" err="1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밸런싱</a:t>
            </a:r>
            <a:r>
              <a:rPr lang="ko-KR" altLang="en-US" sz="14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단계에서 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레벨 전체 길이 및 흐름 변동은 지양하며</a:t>
            </a:r>
            <a:r>
              <a:rPr lang="en-US" altLang="ko-KR" sz="14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4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구성 요소 개수 및 </a:t>
            </a:r>
            <a:r>
              <a:rPr lang="ko-KR" altLang="en-US" sz="1400" b="1" dirty="0" err="1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위치값</a:t>
            </a:r>
            <a:r>
              <a:rPr lang="ko-KR" altLang="en-US" sz="14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변동을 중심으로 진행한다</a:t>
            </a:r>
            <a:r>
              <a:rPr lang="en-US" altLang="ko-KR" sz="14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2000" b="1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5B6181-3612-46E9-E0B1-A16C287E04E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18372" y="2977574"/>
            <a:ext cx="3789764" cy="2131742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FA46F-291B-04B5-D53B-6AD189F60AAB}"/>
              </a:ext>
            </a:extLst>
          </p:cNvPr>
          <p:cNvSpPr txBox="1"/>
          <p:nvPr/>
        </p:nvSpPr>
        <p:spPr>
          <a:xfrm>
            <a:off x="1377026" y="1033042"/>
            <a:ext cx="1038996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문서에서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챕터는 전달하고자 하는 정보 및 의도가 일치하는 스테이지들의 모음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br>
              <a:rPr lang="en-US" altLang="ko-KR" sz="20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EX) 1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챕터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 이동 및 조작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1-1, 1-2.</a:t>
            </a:r>
            <a:b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따라서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1-1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이라 </a:t>
            </a:r>
            <a:r>
              <a:rPr lang="ko-KR" altLang="en-US" sz="15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함음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챕터의 스테이지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을 의미한다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8652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B35ED-8059-72D2-48CC-D0F86D9F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6D0E237-57C0-105C-5978-9CBFD3C47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829" y="2089649"/>
            <a:ext cx="8300225" cy="2906693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145517-347F-5CB8-7528-AD82A0E43DEB}"/>
              </a:ext>
            </a:extLst>
          </p:cNvPr>
          <p:cNvSpPr txBox="1"/>
          <p:nvPr/>
        </p:nvSpPr>
        <p:spPr>
          <a:xfrm>
            <a:off x="421846" y="270646"/>
            <a:ext cx="543285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00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문서에 들어가기 앞서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27D4D-9926-E516-1C89-44B19E112C20}"/>
              </a:ext>
            </a:extLst>
          </p:cNvPr>
          <p:cNvSpPr txBox="1"/>
          <p:nvPr/>
        </p:nvSpPr>
        <p:spPr>
          <a:xfrm>
            <a:off x="1380186" y="1065758"/>
            <a:ext cx="10389968" cy="943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카메라의 경우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PC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따라다니며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체크포인트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 err="1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리스폰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지점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)’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를 기준으로 재설정된다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b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EX)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6C6DE7F6-A9BC-97BA-9061-9B8B4E8C04DA}"/>
                  </a:ext>
                </a:extLst>
              </p14:cNvPr>
              <p14:cNvContentPartPr/>
              <p14:nvPr/>
            </p14:nvContentPartPr>
            <p14:xfrm>
              <a:off x="6572010" y="1504935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6C6DE7F6-A9BC-97BA-9061-9B8B4E8C04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65890" y="14988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95BF48-E7A1-717D-578E-549387698AEE}"/>
              </a:ext>
            </a:extLst>
          </p:cNvPr>
          <p:cNvSpPr txBox="1"/>
          <p:nvPr/>
        </p:nvSpPr>
        <p:spPr>
          <a:xfrm>
            <a:off x="1254138" y="5269407"/>
            <a:ext cx="10389968" cy="943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카메라 설정을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상태라 정의한다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b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하여 탐사 구간의 카메라 설정은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＇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상태에서 제외한다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98980EF-FCAE-FA6C-CA41-F50E1EDC8A9B}"/>
              </a:ext>
            </a:extLst>
          </p:cNvPr>
          <p:cNvSpPr/>
          <p:nvPr/>
        </p:nvSpPr>
        <p:spPr>
          <a:xfrm>
            <a:off x="6036527" y="3205975"/>
            <a:ext cx="825191" cy="44604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82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5B4C-B61B-5A29-97A5-F9619F8D4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3DF2E6-083B-CF8A-192C-CBF3CD4F3047}"/>
              </a:ext>
            </a:extLst>
          </p:cNvPr>
          <p:cNvSpPr txBox="1"/>
          <p:nvPr/>
        </p:nvSpPr>
        <p:spPr>
          <a:xfrm>
            <a:off x="1380186" y="951485"/>
            <a:ext cx="10389968" cy="943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Execl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경우 요소 배치 개수와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길이감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확인을 위해 작성되었음을 명시한다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카메라 연출 구간이 들어가는 경우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2D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보드와 함께 자세히 서술한다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776D2EDE-D121-900E-6366-DB3A733677AB}"/>
                  </a:ext>
                </a:extLst>
              </p14:cNvPr>
              <p14:cNvContentPartPr/>
              <p14:nvPr/>
            </p14:nvContentPartPr>
            <p14:xfrm>
              <a:off x="6572010" y="1593835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776D2EDE-D121-900E-6366-DB3A733677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5890" y="15877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19A558-A716-9A5E-0439-1962FBE0845D}"/>
              </a:ext>
            </a:extLst>
          </p:cNvPr>
          <p:cNvSpPr txBox="1"/>
          <p:nvPr/>
        </p:nvSpPr>
        <p:spPr>
          <a:xfrm>
            <a:off x="421846" y="270646"/>
            <a:ext cx="543285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00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문서에 들어가기 앞서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17F09B-E7BC-04C1-BD83-ADCF1140A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455" y="2537620"/>
            <a:ext cx="8069689" cy="3285786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6ECF524-FA52-822B-3C43-74E8CB855C4E}"/>
              </a:ext>
            </a:extLst>
          </p:cNvPr>
          <p:cNvSpPr/>
          <p:nvPr/>
        </p:nvSpPr>
        <p:spPr>
          <a:xfrm>
            <a:off x="762000" y="3140958"/>
            <a:ext cx="1511300" cy="63094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/>
              <a:t>S# = </a:t>
            </a:r>
            <a:r>
              <a:rPr lang="ko-KR" altLang="en-US" sz="1500" b="1" dirty="0"/>
              <a:t>스테이지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9339085-8A66-9AD6-CC23-08E3A2E5B856}"/>
              </a:ext>
            </a:extLst>
          </p:cNvPr>
          <p:cNvSpPr/>
          <p:nvPr/>
        </p:nvSpPr>
        <p:spPr>
          <a:xfrm>
            <a:off x="9686053" y="4902919"/>
            <a:ext cx="1826206" cy="63094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시간 </a:t>
            </a:r>
            <a:r>
              <a:rPr lang="en-US" altLang="ko-KR" sz="1500" b="1" dirty="0"/>
              <a:t>= </a:t>
            </a:r>
            <a:r>
              <a:rPr lang="ko-KR" altLang="en-US" sz="1500" b="1" dirty="0"/>
              <a:t>생략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77092A6-9510-5EE1-E768-18C2547C8D5C}"/>
              </a:ext>
            </a:extLst>
          </p:cNvPr>
          <p:cNvSpPr/>
          <p:nvPr/>
        </p:nvSpPr>
        <p:spPr>
          <a:xfrm>
            <a:off x="4843402" y="5435600"/>
            <a:ext cx="2505196" cy="112972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액션 </a:t>
            </a:r>
            <a:r>
              <a:rPr lang="en-US" altLang="ko-KR" sz="1500" b="1" dirty="0"/>
              <a:t>= </a:t>
            </a:r>
            <a:br>
              <a:rPr lang="en-US" altLang="ko-KR" sz="1500" b="1" dirty="0"/>
            </a:br>
            <a:r>
              <a:rPr lang="ko-KR" altLang="en-US" sz="1500" b="1" dirty="0"/>
              <a:t>해당 스테이지 및 장면을 </a:t>
            </a:r>
            <a:endParaRPr lang="en-US" altLang="ko-KR" sz="1500" b="1" dirty="0"/>
          </a:p>
          <a:p>
            <a:pPr algn="ctr"/>
            <a:r>
              <a:rPr lang="ko-KR" altLang="en-US" sz="1500" b="1" dirty="0"/>
              <a:t>간단하게 글로 서술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FB989E2-4084-0F47-A640-EE49CB85F1C3}"/>
              </a:ext>
            </a:extLst>
          </p:cNvPr>
          <p:cNvSpPr/>
          <p:nvPr/>
        </p:nvSpPr>
        <p:spPr>
          <a:xfrm>
            <a:off x="8025820" y="4902919"/>
            <a:ext cx="1511300" cy="63094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오디오 </a:t>
            </a:r>
            <a:r>
              <a:rPr lang="en-US" altLang="ko-KR" sz="1500" b="1" dirty="0"/>
              <a:t>= </a:t>
            </a:r>
            <a:r>
              <a:rPr lang="ko-KR" altLang="en-US" sz="1500" b="1" dirty="0"/>
              <a:t>생략</a:t>
            </a:r>
            <a:endParaRPr lang="en-US" altLang="ko-KR" sz="1500" b="1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928B9DC-EB93-2914-4CF4-D5E6A6FA74A3}"/>
              </a:ext>
            </a:extLst>
          </p:cNvPr>
          <p:cNvCxnSpPr>
            <a:cxnSpLocks/>
          </p:cNvCxnSpPr>
          <p:nvPr/>
        </p:nvCxnSpPr>
        <p:spPr>
          <a:xfrm>
            <a:off x="2334703" y="3353355"/>
            <a:ext cx="319597" cy="3042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931D121-09E8-46FA-3B65-F99F72C748A5}"/>
              </a:ext>
            </a:extLst>
          </p:cNvPr>
          <p:cNvCxnSpPr>
            <a:cxnSpLocks/>
          </p:cNvCxnSpPr>
          <p:nvPr/>
        </p:nvCxnSpPr>
        <p:spPr>
          <a:xfrm flipV="1">
            <a:off x="7207813" y="4902919"/>
            <a:ext cx="55453" cy="47881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00A2738-E9FF-D74F-5062-52E8D3E1D492}"/>
              </a:ext>
            </a:extLst>
          </p:cNvPr>
          <p:cNvCxnSpPr>
            <a:cxnSpLocks/>
          </p:cNvCxnSpPr>
          <p:nvPr/>
        </p:nvCxnSpPr>
        <p:spPr>
          <a:xfrm flipV="1">
            <a:off x="8795614" y="4521200"/>
            <a:ext cx="0" cy="38171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C976875-1D13-A12A-50A4-B3F7FCD8C35D}"/>
              </a:ext>
            </a:extLst>
          </p:cNvPr>
          <p:cNvCxnSpPr>
            <a:cxnSpLocks/>
          </p:cNvCxnSpPr>
          <p:nvPr/>
        </p:nvCxnSpPr>
        <p:spPr>
          <a:xfrm flipH="1" flipV="1">
            <a:off x="9893300" y="4180513"/>
            <a:ext cx="351844" cy="72240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80A9EA-7065-7763-8004-096A8860C55D}"/>
              </a:ext>
            </a:extLst>
          </p:cNvPr>
          <p:cNvSpPr txBox="1"/>
          <p:nvPr/>
        </p:nvSpPr>
        <p:spPr>
          <a:xfrm>
            <a:off x="2175454" y="2042344"/>
            <a:ext cx="8069689" cy="482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보드 구성</a:t>
            </a:r>
          </a:p>
        </p:txBody>
      </p:sp>
    </p:spTree>
    <p:extLst>
      <p:ext uri="{BB962C8B-B14F-4D97-AF65-F5344CB8AC3E}">
        <p14:creationId xmlns:p14="http://schemas.microsoft.com/office/powerpoint/2010/main" val="275178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E5C2F-3F3A-2072-DC8A-CC5CCE4E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499197F3-FCEA-F326-1885-513C391E36C3}"/>
              </a:ext>
            </a:extLst>
          </p:cNvPr>
          <p:cNvGrpSpPr/>
          <p:nvPr/>
        </p:nvGrpSpPr>
        <p:grpSpPr>
          <a:xfrm>
            <a:off x="159574" y="4085977"/>
            <a:ext cx="11714926" cy="2226938"/>
            <a:chOff x="223074" y="1433605"/>
            <a:chExt cx="11714926" cy="2226938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FADC413B-67A4-8091-8613-2D2B1364AC1A}"/>
                </a:ext>
              </a:extLst>
            </p:cNvPr>
            <p:cNvSpPr/>
            <p:nvPr/>
          </p:nvSpPr>
          <p:spPr>
            <a:xfrm>
              <a:off x="421846" y="1433605"/>
              <a:ext cx="11516154" cy="2226938"/>
            </a:xfrm>
            <a:prstGeom prst="roundRect">
              <a:avLst/>
            </a:prstGeom>
            <a:solidFill>
              <a:schemeClr val="tx2">
                <a:lumMod val="75000"/>
                <a:lumOff val="25000"/>
                <a:alpha val="3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7F14BC1-49FE-E52C-8CB8-D553AE619E6F}"/>
                    </a:ext>
                  </a:extLst>
                </p14:cNvPr>
                <p14:cNvContentPartPr/>
                <p14:nvPr/>
              </p14:nvContentPartPr>
              <p14:xfrm>
                <a:off x="6572010" y="1504935"/>
                <a:ext cx="36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7F14BC1-49FE-E52C-8CB8-D553AE619E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65890" y="1498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4A82B52-2CA5-F086-B2D2-A2E4DABF39AA}"/>
                </a:ext>
              </a:extLst>
            </p:cNvPr>
            <p:cNvSpPr/>
            <p:nvPr/>
          </p:nvSpPr>
          <p:spPr>
            <a:xfrm>
              <a:off x="985074" y="1663938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메인 학습 정보</a:t>
              </a:r>
              <a:endParaRPr lang="en-US" altLang="ko-KR" sz="1500" b="1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4C72983-5493-5E5F-9F21-30D9F1317B1E}"/>
                </a:ext>
              </a:extLst>
            </p:cNvPr>
            <p:cNvSpPr/>
            <p:nvPr/>
          </p:nvSpPr>
          <p:spPr>
            <a:xfrm>
              <a:off x="985074" y="2777407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서브 학습 정보</a:t>
              </a:r>
              <a:endParaRPr lang="en-US" altLang="ko-KR" sz="1500" b="1" dirty="0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C81D59A-A83A-E6E5-0E28-39CEBF4DB9B6}"/>
                </a:ext>
              </a:extLst>
            </p:cNvPr>
            <p:cNvCxnSpPr>
              <a:cxnSpLocks/>
              <a:stCxn id="14" idx="1"/>
              <a:endCxn id="14" idx="3"/>
            </p:cNvCxnSpPr>
            <p:nvPr/>
          </p:nvCxnSpPr>
          <p:spPr>
            <a:xfrm>
              <a:off x="421846" y="2547074"/>
              <a:ext cx="11516154" cy="0"/>
            </a:xfrm>
            <a:prstGeom prst="line">
              <a:avLst/>
            </a:prstGeom>
            <a:ln w="28575"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31814D-C618-1019-125F-C624B14C4605}"/>
                </a:ext>
              </a:extLst>
            </p:cNvPr>
            <p:cNvSpPr txBox="1"/>
            <p:nvPr/>
          </p:nvSpPr>
          <p:spPr>
            <a:xfrm>
              <a:off x="223074" y="2005479"/>
              <a:ext cx="457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highlight>
                    <a:srgbClr val="708DA8"/>
                  </a:highlight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endParaRPr lang="ko-KR" altLang="en-US" sz="4800" b="1" dirty="0">
                <a:highlight>
                  <a:srgbClr val="708DA8"/>
                </a:highlight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CC9B45-88E6-D2A6-30BC-805192EDC1BB}"/>
              </a:ext>
            </a:extLst>
          </p:cNvPr>
          <p:cNvSpPr txBox="1"/>
          <p:nvPr/>
        </p:nvSpPr>
        <p:spPr>
          <a:xfrm>
            <a:off x="421846" y="270646"/>
            <a:ext cx="997945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01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흐름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정보 전달 플로우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C81E1-2282-DC5D-BC1E-01252765CC1E}"/>
              </a:ext>
            </a:extLst>
          </p:cNvPr>
          <p:cNvSpPr txBox="1"/>
          <p:nvPr/>
        </p:nvSpPr>
        <p:spPr>
          <a:xfrm>
            <a:off x="1380186" y="989585"/>
            <a:ext cx="10389968" cy="1867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해당 플로우 차트의 숫자는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진행 시 정보 전달 순서를 의미한다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스테이지 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x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메인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스테이지를 구성하는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의도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목표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와 구성 요소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오브젝트 종류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의미한다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서브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스테이지의 구성요소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메인 정보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통해 자연스럽게 전달되는 정보를 의미한다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문서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Ver1.0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기준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탐사 구간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＇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 내부는 작성 제외대상이다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50E3D-8C60-317A-F233-7C5E6F01A22B}"/>
              </a:ext>
            </a:extLst>
          </p:cNvPr>
          <p:cNvSpPr/>
          <p:nvPr/>
        </p:nvSpPr>
        <p:spPr>
          <a:xfrm>
            <a:off x="3000255" y="4295609"/>
            <a:ext cx="218416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기본 조작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이동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점프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CCC92C-ADEE-F1E1-2111-1DF95F2B5F59}"/>
              </a:ext>
            </a:extLst>
          </p:cNvPr>
          <p:cNvSpPr/>
          <p:nvPr/>
        </p:nvSpPr>
        <p:spPr>
          <a:xfrm>
            <a:off x="5614842" y="4295609"/>
            <a:ext cx="218416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이동 플랫폼 학습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B938B5-F34C-F680-7CC7-64604AFDF6A5}"/>
              </a:ext>
            </a:extLst>
          </p:cNvPr>
          <p:cNvSpPr/>
          <p:nvPr/>
        </p:nvSpPr>
        <p:spPr>
          <a:xfrm>
            <a:off x="8296155" y="4295609"/>
            <a:ext cx="275590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생성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소멸 플랫폼 학습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DA80B4-0E4C-383C-3458-26BE626E21B1}"/>
              </a:ext>
            </a:extLst>
          </p:cNvPr>
          <p:cNvSpPr/>
          <p:nvPr/>
        </p:nvSpPr>
        <p:spPr>
          <a:xfrm>
            <a:off x="3000255" y="5422189"/>
            <a:ext cx="275590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/>
              <a:t>낙사</a:t>
            </a:r>
            <a:r>
              <a:rPr lang="en-US" altLang="ko-KR" sz="1500" b="1" dirty="0"/>
              <a:t>(HP </a:t>
            </a:r>
            <a:r>
              <a:rPr lang="ko-KR" altLang="en-US" sz="1500" b="1" dirty="0"/>
              <a:t>개념 학습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D1A2D56-337F-0B4E-2CB2-BD6648CA0CC5}"/>
              </a:ext>
            </a:extLst>
          </p:cNvPr>
          <p:cNvGrpSpPr/>
          <p:nvPr/>
        </p:nvGrpSpPr>
        <p:grpSpPr>
          <a:xfrm>
            <a:off x="1821901" y="3055263"/>
            <a:ext cx="5370035" cy="731049"/>
            <a:chOff x="6572010" y="330178"/>
            <a:chExt cx="5370035" cy="731049"/>
          </a:xfrm>
        </p:grpSpPr>
        <p:pic>
          <p:nvPicPr>
            <p:cNvPr id="48" name="그래픽 47" descr="어두움(중간 태양) 단색으로 채워진">
              <a:extLst>
                <a:ext uri="{FF2B5EF4-FFF2-40B4-BE49-F238E27FC236}">
                  <a16:creationId xmlns:a16="http://schemas.microsoft.com/office/drawing/2014/main" id="{2374B219-7E45-EAB7-54A4-CC897F772F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7718" y="398759"/>
              <a:ext cx="598170" cy="598170"/>
            </a:xfrm>
            <a:prstGeom prst="rect">
              <a:avLst/>
            </a:prstGeom>
          </p:spPr>
        </p:pic>
        <p:pic>
          <p:nvPicPr>
            <p:cNvPr id="49" name="그래픽 48" descr="달과 별 단색으로 채워진">
              <a:extLst>
                <a:ext uri="{FF2B5EF4-FFF2-40B4-BE49-F238E27FC236}">
                  <a16:creationId xmlns:a16="http://schemas.microsoft.com/office/drawing/2014/main" id="{C4E95E24-2AAC-4948-3D87-4A87C384D3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20943" y="383802"/>
              <a:ext cx="598170" cy="59817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48221A-BC26-08C5-6660-6EB401537B33}"/>
                </a:ext>
              </a:extLst>
            </p:cNvPr>
            <p:cNvSpPr txBox="1"/>
            <p:nvPr/>
          </p:nvSpPr>
          <p:spPr>
            <a:xfrm>
              <a:off x="7172649" y="472820"/>
              <a:ext cx="1738821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기본 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낮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) </a:t>
              </a:r>
              <a:r>
                <a:rPr lang="ko-KR" altLang="en-US" sz="15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라이팅</a:t>
              </a:r>
              <a:endPara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692C32-76AF-CBA4-78E6-28EB3D5F43D3}"/>
                </a:ext>
              </a:extLst>
            </p:cNvPr>
            <p:cNvSpPr txBox="1"/>
            <p:nvPr/>
          </p:nvSpPr>
          <p:spPr>
            <a:xfrm>
              <a:off x="9719113" y="486444"/>
              <a:ext cx="22229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>
                  <a:latin typeface="HY견고딕" panose="02030600000101010101" pitchFamily="18" charset="-127"/>
                  <a:ea typeface="HY견고딕" panose="02030600000101010101" pitchFamily="18" charset="-127"/>
                </a:rPr>
                <a:t>버그 컨셉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밤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) </a:t>
              </a:r>
              <a:r>
                <a:rPr lang="ko-KR" altLang="en-US" sz="15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라이팅</a:t>
              </a:r>
              <a:endPara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FE613A4-A29D-19FF-EB51-BF447F1E754F}"/>
                </a:ext>
              </a:extLst>
            </p:cNvPr>
            <p:cNvSpPr/>
            <p:nvPr/>
          </p:nvSpPr>
          <p:spPr>
            <a:xfrm>
              <a:off x="6572010" y="330178"/>
              <a:ext cx="5317144" cy="731049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4" name="그래픽 53" descr="어두움(중간 태양) 단색으로 채워진">
            <a:extLst>
              <a:ext uri="{FF2B5EF4-FFF2-40B4-BE49-F238E27FC236}">
                <a16:creationId xmlns:a16="http://schemas.microsoft.com/office/drawing/2014/main" id="{753548BA-0DE0-8AC7-C273-CFDB9F60C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182" y="3594811"/>
            <a:ext cx="1102257" cy="110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8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C7936-597A-3EB1-CAE1-6AF2F52F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0BC8E880-10B5-B900-0A72-3BD6917233D9}"/>
              </a:ext>
            </a:extLst>
          </p:cNvPr>
          <p:cNvGrpSpPr/>
          <p:nvPr/>
        </p:nvGrpSpPr>
        <p:grpSpPr>
          <a:xfrm>
            <a:off x="162337" y="4037258"/>
            <a:ext cx="11714926" cy="2226938"/>
            <a:chOff x="223074" y="1433605"/>
            <a:chExt cx="11714926" cy="2226938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706B916-2F22-244B-B8A0-C87B601739EF}"/>
                </a:ext>
              </a:extLst>
            </p:cNvPr>
            <p:cNvSpPr/>
            <p:nvPr/>
          </p:nvSpPr>
          <p:spPr>
            <a:xfrm>
              <a:off x="421846" y="1433605"/>
              <a:ext cx="11516154" cy="2226938"/>
            </a:xfrm>
            <a:prstGeom prst="roundRect">
              <a:avLst/>
            </a:prstGeom>
            <a:solidFill>
              <a:schemeClr val="tx2">
                <a:lumMod val="75000"/>
                <a:lumOff val="25000"/>
                <a:alpha val="3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D26A071-1F6E-26E5-9F64-B2A323E0DF0E}"/>
                    </a:ext>
                  </a:extLst>
                </p14:cNvPr>
                <p14:cNvContentPartPr/>
                <p14:nvPr/>
              </p14:nvContentPartPr>
              <p14:xfrm>
                <a:off x="6572010" y="1504935"/>
                <a:ext cx="360" cy="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D26A071-1F6E-26E5-9F64-B2A323E0DF0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65890" y="1498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DE85A44-32F1-8372-961D-B532CE208122}"/>
                </a:ext>
              </a:extLst>
            </p:cNvPr>
            <p:cNvSpPr/>
            <p:nvPr/>
          </p:nvSpPr>
          <p:spPr>
            <a:xfrm>
              <a:off x="985074" y="1663938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메인 학습 정보</a:t>
              </a:r>
              <a:endParaRPr lang="en-US" altLang="ko-KR" sz="1500" b="1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0D6D4E6-2DF4-DAE2-60E3-7401832324B5}"/>
                </a:ext>
              </a:extLst>
            </p:cNvPr>
            <p:cNvSpPr/>
            <p:nvPr/>
          </p:nvSpPr>
          <p:spPr>
            <a:xfrm>
              <a:off x="985074" y="2777407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서브 학습 정보</a:t>
              </a:r>
              <a:endParaRPr lang="en-US" altLang="ko-KR" sz="1500" b="1" dirty="0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93075365-868C-C79F-3C62-2BD7C29B7335}"/>
                </a:ext>
              </a:extLst>
            </p:cNvPr>
            <p:cNvCxnSpPr>
              <a:cxnSpLocks/>
              <a:stCxn id="34" idx="1"/>
              <a:endCxn id="34" idx="3"/>
            </p:cNvCxnSpPr>
            <p:nvPr/>
          </p:nvCxnSpPr>
          <p:spPr>
            <a:xfrm>
              <a:off x="421846" y="2547074"/>
              <a:ext cx="11516154" cy="0"/>
            </a:xfrm>
            <a:prstGeom prst="line">
              <a:avLst/>
            </a:prstGeom>
            <a:ln w="28575"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126699-6A25-2678-3F78-8EB0F7796190}"/>
                </a:ext>
              </a:extLst>
            </p:cNvPr>
            <p:cNvSpPr txBox="1"/>
            <p:nvPr/>
          </p:nvSpPr>
          <p:spPr>
            <a:xfrm>
              <a:off x="223074" y="2005479"/>
              <a:ext cx="457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highlight>
                    <a:srgbClr val="708DA8"/>
                  </a:highlight>
                  <a:latin typeface="HY견고딕" panose="02030600000101010101" pitchFamily="18" charset="-127"/>
                  <a:ea typeface="HY견고딕" panose="02030600000101010101" pitchFamily="18" charset="-127"/>
                </a:rPr>
                <a:t>3</a:t>
              </a:r>
              <a:endParaRPr lang="ko-KR" altLang="en-US" sz="4800" b="1" dirty="0">
                <a:highlight>
                  <a:srgbClr val="708DA8"/>
                </a:highlight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7174DE1-73E8-1815-7120-4E571EEAB0B9}"/>
              </a:ext>
            </a:extLst>
          </p:cNvPr>
          <p:cNvGrpSpPr/>
          <p:nvPr/>
        </p:nvGrpSpPr>
        <p:grpSpPr>
          <a:xfrm>
            <a:off x="146874" y="1123719"/>
            <a:ext cx="11714926" cy="2226938"/>
            <a:chOff x="223074" y="1433605"/>
            <a:chExt cx="11714926" cy="2226938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5D092BF8-185A-5085-FE7A-79194A964575}"/>
                </a:ext>
              </a:extLst>
            </p:cNvPr>
            <p:cNvSpPr/>
            <p:nvPr/>
          </p:nvSpPr>
          <p:spPr>
            <a:xfrm>
              <a:off x="421846" y="1433605"/>
              <a:ext cx="11516154" cy="2226938"/>
            </a:xfrm>
            <a:prstGeom prst="roundRect">
              <a:avLst/>
            </a:prstGeom>
            <a:solidFill>
              <a:schemeClr val="tx2">
                <a:lumMod val="75000"/>
                <a:lumOff val="25000"/>
                <a:alpha val="3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46D7678-B785-5771-1C40-14DE0788CC51}"/>
                    </a:ext>
                  </a:extLst>
                </p14:cNvPr>
                <p14:cNvContentPartPr/>
                <p14:nvPr/>
              </p14:nvContentPartPr>
              <p14:xfrm>
                <a:off x="6572010" y="1504935"/>
                <a:ext cx="36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46D7678-B785-5771-1C40-14DE0788CC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65890" y="1498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9EC196B-7EF7-F492-2E15-617920BDAC28}"/>
                </a:ext>
              </a:extLst>
            </p:cNvPr>
            <p:cNvSpPr/>
            <p:nvPr/>
          </p:nvSpPr>
          <p:spPr>
            <a:xfrm>
              <a:off x="985074" y="1663938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메인 학습 정보</a:t>
              </a:r>
              <a:endParaRPr lang="en-US" altLang="ko-KR" sz="1500" b="1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2799D58-F271-64E4-C581-265D7DA5810D}"/>
                </a:ext>
              </a:extLst>
            </p:cNvPr>
            <p:cNvSpPr/>
            <p:nvPr/>
          </p:nvSpPr>
          <p:spPr>
            <a:xfrm>
              <a:off x="985074" y="2777407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서브 학습 정보</a:t>
              </a:r>
              <a:endParaRPr lang="en-US" altLang="ko-KR" sz="1500" b="1" dirty="0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B9B0DF06-BB08-3BCA-EB7E-89596F84C25F}"/>
                </a:ext>
              </a:extLst>
            </p:cNvPr>
            <p:cNvCxnSpPr>
              <a:cxnSpLocks/>
              <a:stCxn id="14" idx="1"/>
              <a:endCxn id="14" idx="3"/>
            </p:cNvCxnSpPr>
            <p:nvPr/>
          </p:nvCxnSpPr>
          <p:spPr>
            <a:xfrm>
              <a:off x="421846" y="2547074"/>
              <a:ext cx="11516154" cy="0"/>
            </a:xfrm>
            <a:prstGeom prst="line">
              <a:avLst/>
            </a:prstGeom>
            <a:ln w="28575"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054FD0-B380-E651-7D56-91BE485CCA46}"/>
                </a:ext>
              </a:extLst>
            </p:cNvPr>
            <p:cNvSpPr txBox="1"/>
            <p:nvPr/>
          </p:nvSpPr>
          <p:spPr>
            <a:xfrm>
              <a:off x="223074" y="2005479"/>
              <a:ext cx="457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highlight>
                    <a:srgbClr val="708DA8"/>
                  </a:highlight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endParaRPr lang="ko-KR" altLang="en-US" sz="4800" b="1" dirty="0">
                <a:highlight>
                  <a:srgbClr val="708DA8"/>
                </a:highlight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400A226-2DCD-4E7E-F7F7-A1730D1EA642}"/>
              </a:ext>
            </a:extLst>
          </p:cNvPr>
          <p:cNvSpPr txBox="1"/>
          <p:nvPr/>
        </p:nvSpPr>
        <p:spPr>
          <a:xfrm>
            <a:off x="421846" y="270646"/>
            <a:ext cx="997945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01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흐름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정보 전달 플로우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8BD4BE-B148-C8A6-8066-ACA7C8AB4AEA}"/>
              </a:ext>
            </a:extLst>
          </p:cNvPr>
          <p:cNvSpPr/>
          <p:nvPr/>
        </p:nvSpPr>
        <p:spPr>
          <a:xfrm>
            <a:off x="3020257" y="1346141"/>
            <a:ext cx="218416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체크포인트 등장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2C7691-652A-E4D4-2836-E605CC853714}"/>
              </a:ext>
            </a:extLst>
          </p:cNvPr>
          <p:cNvSpPr/>
          <p:nvPr/>
        </p:nvSpPr>
        <p:spPr>
          <a:xfrm>
            <a:off x="3020257" y="2454107"/>
            <a:ext cx="275590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/>
              <a:t>낙사</a:t>
            </a:r>
            <a:r>
              <a:rPr lang="ko-KR" altLang="en-US" sz="1500" b="1" dirty="0"/>
              <a:t> 외 </a:t>
            </a:r>
            <a:r>
              <a:rPr lang="en-US" altLang="ko-KR" sz="1500" b="1" dirty="0"/>
              <a:t>HP </a:t>
            </a:r>
            <a:r>
              <a:rPr lang="ko-KR" altLang="en-US" sz="1500" b="1" dirty="0"/>
              <a:t>감소 조건 학습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F7675B-6CFF-2FE8-9488-4FE0683F8660}"/>
              </a:ext>
            </a:extLst>
          </p:cNvPr>
          <p:cNvSpPr/>
          <p:nvPr/>
        </p:nvSpPr>
        <p:spPr>
          <a:xfrm>
            <a:off x="5776346" y="1346141"/>
            <a:ext cx="209550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몬스터 등장 </a:t>
            </a:r>
            <a:endParaRPr lang="en-US" altLang="ko-KR" sz="1500" b="1" dirty="0"/>
          </a:p>
          <a:p>
            <a:pPr algn="ctr"/>
            <a:r>
              <a:rPr lang="en-US" altLang="ko-KR" sz="1500" b="1" dirty="0"/>
              <a:t>+ </a:t>
            </a:r>
            <a:r>
              <a:rPr lang="ko-KR" altLang="en-US" sz="1500" b="1" dirty="0"/>
              <a:t>눈물 스킬 학습</a:t>
            </a:r>
            <a:endParaRPr lang="en-US" altLang="ko-KR" sz="1500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050B8B-CD11-30DD-CA08-7388CBFE8051}"/>
              </a:ext>
            </a:extLst>
          </p:cNvPr>
          <p:cNvSpPr/>
          <p:nvPr/>
        </p:nvSpPr>
        <p:spPr>
          <a:xfrm>
            <a:off x="8431075" y="1346141"/>
            <a:ext cx="2775851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가스레인지 오브젝트 등장</a:t>
            </a:r>
            <a:endParaRPr lang="en-US" altLang="ko-KR" sz="1500" b="1" dirty="0"/>
          </a:p>
        </p:txBody>
      </p:sp>
      <p:pic>
        <p:nvPicPr>
          <p:cNvPr id="20" name="그래픽 19" descr="어두움(중간 태양) 단색으로 채워진">
            <a:extLst>
              <a:ext uri="{FF2B5EF4-FFF2-40B4-BE49-F238E27FC236}">
                <a16:creationId xmlns:a16="http://schemas.microsoft.com/office/drawing/2014/main" id="{2191E995-724C-B63F-80AB-0F712059B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6091" y="657917"/>
            <a:ext cx="1102257" cy="1102257"/>
          </a:xfrm>
          <a:prstGeom prst="rect">
            <a:avLst/>
          </a:prstGeom>
        </p:spPr>
      </p:pic>
      <p:pic>
        <p:nvPicPr>
          <p:cNvPr id="22" name="그래픽 21" descr="어두움(중간 태양) 단색으로 채워진">
            <a:extLst>
              <a:ext uri="{FF2B5EF4-FFF2-40B4-BE49-F238E27FC236}">
                <a16:creationId xmlns:a16="http://schemas.microsoft.com/office/drawing/2014/main" id="{D99F8398-9BFE-ABF1-9E7F-0F93A16A5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182" y="3645611"/>
            <a:ext cx="1102257" cy="1102257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24E78866-6159-F57C-237B-5C6EF4D5716B}"/>
              </a:ext>
            </a:extLst>
          </p:cNvPr>
          <p:cNvSpPr/>
          <p:nvPr/>
        </p:nvSpPr>
        <p:spPr>
          <a:xfrm>
            <a:off x="3040225" y="5393410"/>
            <a:ext cx="2698312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크기에 따른 점프 높이 변화 </a:t>
            </a:r>
            <a:endParaRPr lang="en-US" altLang="ko-KR" sz="15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C105967-1F2F-1E41-CB93-56E4A856D7EC}"/>
              </a:ext>
            </a:extLst>
          </p:cNvPr>
          <p:cNvSpPr/>
          <p:nvPr/>
        </p:nvSpPr>
        <p:spPr>
          <a:xfrm>
            <a:off x="3036055" y="4264053"/>
            <a:ext cx="3326645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껍질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무게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메커니즘 및 </a:t>
            </a:r>
            <a:r>
              <a:rPr lang="ko-KR" altLang="en-US" sz="1500" b="1" dirty="0" err="1"/>
              <a:t>기믹</a:t>
            </a:r>
            <a:r>
              <a:rPr lang="ko-KR" altLang="en-US" sz="1500" b="1" dirty="0"/>
              <a:t> 학습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1475632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9CDF-A851-87CE-FF13-6B19B2D3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D94272C6-2A94-1C96-D472-1A42E8864D12}"/>
              </a:ext>
            </a:extLst>
          </p:cNvPr>
          <p:cNvGrpSpPr/>
          <p:nvPr/>
        </p:nvGrpSpPr>
        <p:grpSpPr>
          <a:xfrm>
            <a:off x="162337" y="4037258"/>
            <a:ext cx="11714926" cy="2226938"/>
            <a:chOff x="223074" y="1433605"/>
            <a:chExt cx="11714926" cy="2226938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716A1391-A492-7281-5EF5-42893217B694}"/>
                </a:ext>
              </a:extLst>
            </p:cNvPr>
            <p:cNvSpPr/>
            <p:nvPr/>
          </p:nvSpPr>
          <p:spPr>
            <a:xfrm>
              <a:off x="421846" y="1433605"/>
              <a:ext cx="11516154" cy="2226938"/>
            </a:xfrm>
            <a:prstGeom prst="roundRect">
              <a:avLst/>
            </a:prstGeom>
            <a:solidFill>
              <a:schemeClr val="tx2">
                <a:lumMod val="75000"/>
                <a:lumOff val="25000"/>
                <a:alpha val="3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7AE7FEAF-DABC-C5E3-D26A-E2F5CFE1713B}"/>
                    </a:ext>
                  </a:extLst>
                </p14:cNvPr>
                <p14:cNvContentPartPr/>
                <p14:nvPr/>
              </p14:nvContentPartPr>
              <p14:xfrm>
                <a:off x="6572010" y="1504935"/>
                <a:ext cx="360" cy="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7AE7FEAF-DABC-C5E3-D26A-E2F5CFE171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65890" y="1498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8493C0D-334C-E409-AFCB-D829DB60C319}"/>
                </a:ext>
              </a:extLst>
            </p:cNvPr>
            <p:cNvSpPr/>
            <p:nvPr/>
          </p:nvSpPr>
          <p:spPr>
            <a:xfrm>
              <a:off x="985074" y="1663938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메인 학습 정보</a:t>
              </a:r>
              <a:endParaRPr lang="en-US" altLang="ko-KR" sz="1500" b="1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29BC73C-9476-70BD-3505-A80C00D36F61}"/>
                </a:ext>
              </a:extLst>
            </p:cNvPr>
            <p:cNvSpPr/>
            <p:nvPr/>
          </p:nvSpPr>
          <p:spPr>
            <a:xfrm>
              <a:off x="985074" y="2777407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서브 학습 정보</a:t>
              </a:r>
              <a:endParaRPr lang="en-US" altLang="ko-KR" sz="1500" b="1" dirty="0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6C56B13-3147-961D-A2E7-11AA717A683D}"/>
                </a:ext>
              </a:extLst>
            </p:cNvPr>
            <p:cNvCxnSpPr>
              <a:cxnSpLocks/>
              <a:stCxn id="34" idx="1"/>
              <a:endCxn id="34" idx="3"/>
            </p:cNvCxnSpPr>
            <p:nvPr/>
          </p:nvCxnSpPr>
          <p:spPr>
            <a:xfrm>
              <a:off x="421846" y="2547074"/>
              <a:ext cx="11516154" cy="0"/>
            </a:xfrm>
            <a:prstGeom prst="line">
              <a:avLst/>
            </a:prstGeom>
            <a:ln w="28575"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E43E38-EB21-012D-641D-4F9257A9254B}"/>
                </a:ext>
              </a:extLst>
            </p:cNvPr>
            <p:cNvSpPr txBox="1"/>
            <p:nvPr/>
          </p:nvSpPr>
          <p:spPr>
            <a:xfrm>
              <a:off x="223074" y="2005479"/>
              <a:ext cx="457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highlight>
                    <a:srgbClr val="708DA8"/>
                  </a:highlight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endParaRPr lang="ko-KR" altLang="en-US" sz="4800" b="1" dirty="0">
                <a:highlight>
                  <a:srgbClr val="708DA8"/>
                </a:highlight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0940C5E-6D36-A2F2-0145-87F6306B1AC0}"/>
              </a:ext>
            </a:extLst>
          </p:cNvPr>
          <p:cNvGrpSpPr/>
          <p:nvPr/>
        </p:nvGrpSpPr>
        <p:grpSpPr>
          <a:xfrm>
            <a:off x="146874" y="1123719"/>
            <a:ext cx="11714926" cy="2226938"/>
            <a:chOff x="223074" y="1433605"/>
            <a:chExt cx="11714926" cy="2226938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9A9B38A9-B5EE-A5E0-7613-C9008AA577FB}"/>
                </a:ext>
              </a:extLst>
            </p:cNvPr>
            <p:cNvSpPr/>
            <p:nvPr/>
          </p:nvSpPr>
          <p:spPr>
            <a:xfrm>
              <a:off x="421846" y="1433605"/>
              <a:ext cx="11516154" cy="2226938"/>
            </a:xfrm>
            <a:prstGeom prst="roundRect">
              <a:avLst/>
            </a:prstGeom>
            <a:solidFill>
              <a:schemeClr val="tx2">
                <a:lumMod val="75000"/>
                <a:lumOff val="25000"/>
                <a:alpha val="3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950C33E-EEB6-8B00-D88D-9B389349598A}"/>
                    </a:ext>
                  </a:extLst>
                </p14:cNvPr>
                <p14:cNvContentPartPr/>
                <p14:nvPr/>
              </p14:nvContentPartPr>
              <p14:xfrm>
                <a:off x="6572010" y="1504935"/>
                <a:ext cx="36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950C33E-EEB6-8B00-D88D-9B38934959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65890" y="1498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8BF60FE-DDC2-7A86-93DF-5209362159DE}"/>
                </a:ext>
              </a:extLst>
            </p:cNvPr>
            <p:cNvSpPr/>
            <p:nvPr/>
          </p:nvSpPr>
          <p:spPr>
            <a:xfrm>
              <a:off x="985074" y="1663938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메인 학습 정보</a:t>
              </a:r>
              <a:endParaRPr lang="en-US" altLang="ko-KR" sz="1500" b="1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00EB3C5-05EB-3979-0579-9D57880709BF}"/>
                </a:ext>
              </a:extLst>
            </p:cNvPr>
            <p:cNvSpPr/>
            <p:nvPr/>
          </p:nvSpPr>
          <p:spPr>
            <a:xfrm>
              <a:off x="985074" y="2777407"/>
              <a:ext cx="1724454" cy="630942"/>
            </a:xfrm>
            <a:prstGeom prst="rect">
              <a:avLst/>
            </a:prstGeom>
            <a:solidFill>
              <a:srgbClr val="708DA8"/>
            </a:solidFill>
            <a:ln>
              <a:solidFill>
                <a:srgbClr val="5765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/>
                <a:t>서브 학습 정보</a:t>
              </a:r>
              <a:endParaRPr lang="en-US" altLang="ko-KR" sz="1500" b="1" dirty="0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E262577-61E7-0D57-9175-BA8BD8CC9B28}"/>
                </a:ext>
              </a:extLst>
            </p:cNvPr>
            <p:cNvCxnSpPr>
              <a:cxnSpLocks/>
              <a:stCxn id="14" idx="1"/>
              <a:endCxn id="14" idx="3"/>
            </p:cNvCxnSpPr>
            <p:nvPr/>
          </p:nvCxnSpPr>
          <p:spPr>
            <a:xfrm>
              <a:off x="421846" y="2547074"/>
              <a:ext cx="11516154" cy="0"/>
            </a:xfrm>
            <a:prstGeom prst="line">
              <a:avLst/>
            </a:prstGeom>
            <a:ln w="28575">
              <a:solidFill>
                <a:srgbClr val="215F9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F0D41D-2AA1-F441-E480-CC46FF180863}"/>
                </a:ext>
              </a:extLst>
            </p:cNvPr>
            <p:cNvSpPr txBox="1"/>
            <p:nvPr/>
          </p:nvSpPr>
          <p:spPr>
            <a:xfrm>
              <a:off x="223074" y="2005479"/>
              <a:ext cx="457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800" b="1" dirty="0">
                  <a:highlight>
                    <a:srgbClr val="708DA8"/>
                  </a:highlight>
                  <a:latin typeface="HY견고딕" panose="02030600000101010101" pitchFamily="18" charset="-127"/>
                  <a:ea typeface="HY견고딕" panose="02030600000101010101" pitchFamily="18" charset="-127"/>
                </a:rPr>
                <a:t>4</a:t>
              </a:r>
              <a:endParaRPr lang="ko-KR" altLang="en-US" sz="4800" b="1" dirty="0">
                <a:highlight>
                  <a:srgbClr val="708DA8"/>
                </a:highlight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05019E2-D836-43C1-051D-F29176B8A772}"/>
              </a:ext>
            </a:extLst>
          </p:cNvPr>
          <p:cNvSpPr txBox="1"/>
          <p:nvPr/>
        </p:nvSpPr>
        <p:spPr>
          <a:xfrm>
            <a:off x="421846" y="270646"/>
            <a:ext cx="997945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01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흐름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정보 전달 플로우</a:t>
            </a:r>
          </a:p>
        </p:txBody>
      </p:sp>
      <p:pic>
        <p:nvPicPr>
          <p:cNvPr id="5" name="그래픽 4" descr="달과 별 단색으로 채워진">
            <a:extLst>
              <a:ext uri="{FF2B5EF4-FFF2-40B4-BE49-F238E27FC236}">
                <a16:creationId xmlns:a16="http://schemas.microsoft.com/office/drawing/2014/main" id="{387EFC61-750B-7580-1CEE-3F4D9A340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874" y="809371"/>
            <a:ext cx="906927" cy="906927"/>
          </a:xfrm>
          <a:prstGeom prst="rect">
            <a:avLst/>
          </a:prstGeom>
        </p:spPr>
      </p:pic>
      <p:pic>
        <p:nvPicPr>
          <p:cNvPr id="10" name="그래픽 9" descr="달과 별 단색으로 채워진">
            <a:extLst>
              <a:ext uri="{FF2B5EF4-FFF2-40B4-BE49-F238E27FC236}">
                <a16:creationId xmlns:a16="http://schemas.microsoft.com/office/drawing/2014/main" id="{2FF38825-8955-55FC-FCDA-A038066EA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93" y="3633841"/>
            <a:ext cx="906927" cy="906927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494BA8-B32F-880A-9E30-218A60089B87}"/>
              </a:ext>
            </a:extLst>
          </p:cNvPr>
          <p:cNvSpPr/>
          <p:nvPr/>
        </p:nvSpPr>
        <p:spPr>
          <a:xfrm>
            <a:off x="3027525" y="1350027"/>
            <a:ext cx="2373639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기름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상태이상</a:t>
            </a:r>
            <a:r>
              <a:rPr lang="en-US" altLang="ko-KR" sz="1500" b="1" dirty="0"/>
              <a:t>)</a:t>
            </a:r>
            <a:r>
              <a:rPr lang="ko-KR" altLang="en-US" sz="1500" b="1" dirty="0"/>
              <a:t>학습</a:t>
            </a:r>
            <a:endParaRPr lang="en-US" altLang="ko-KR" sz="1500" b="1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AC79BFB-8E8E-B715-9FB3-DD5EFE236E12}"/>
              </a:ext>
            </a:extLst>
          </p:cNvPr>
          <p:cNvSpPr/>
          <p:nvPr/>
        </p:nvSpPr>
        <p:spPr>
          <a:xfrm>
            <a:off x="5847269" y="1350027"/>
            <a:ext cx="2851390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냄비 오브젝트 등장</a:t>
            </a:r>
            <a:endParaRPr lang="en-US" altLang="ko-KR" sz="1500" b="1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EC8B5AC-2042-107D-B7FE-AA0173C5BAB4}"/>
              </a:ext>
            </a:extLst>
          </p:cNvPr>
          <p:cNvSpPr/>
          <p:nvPr/>
        </p:nvSpPr>
        <p:spPr>
          <a:xfrm>
            <a:off x="3036055" y="4264053"/>
            <a:ext cx="8231608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새로운 정보 학습 없음 </a:t>
            </a:r>
            <a:r>
              <a:rPr lang="en-US" altLang="ko-KR" sz="1500" b="1" dirty="0"/>
              <a:t>= </a:t>
            </a:r>
            <a:r>
              <a:rPr lang="ko-KR" altLang="en-US" sz="1500" b="1" dirty="0"/>
              <a:t>응용 스테이지로 마무리</a:t>
            </a:r>
            <a:endParaRPr lang="en-US" altLang="ko-KR" sz="1500" b="1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0146C83-3F56-3334-193A-AFD14C349874}"/>
              </a:ext>
            </a:extLst>
          </p:cNvPr>
          <p:cNvSpPr/>
          <p:nvPr/>
        </p:nvSpPr>
        <p:spPr>
          <a:xfrm>
            <a:off x="3027524" y="2480963"/>
            <a:ext cx="2819745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 </a:t>
            </a:r>
            <a:r>
              <a:rPr lang="en-US" altLang="ko-KR" sz="1500" b="1" dirty="0"/>
              <a:t>HP </a:t>
            </a:r>
            <a:r>
              <a:rPr lang="ko-KR" altLang="en-US" sz="1500" b="1" dirty="0"/>
              <a:t>감소 조건 추가 학습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F4A3882-BD2C-5689-A131-C1AED95F3A00}"/>
              </a:ext>
            </a:extLst>
          </p:cNvPr>
          <p:cNvSpPr/>
          <p:nvPr/>
        </p:nvSpPr>
        <p:spPr>
          <a:xfrm>
            <a:off x="3036055" y="5393410"/>
            <a:ext cx="8212524" cy="6309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새로운 정보 학습 없음 </a:t>
            </a:r>
            <a:r>
              <a:rPr lang="en-US" altLang="ko-KR" sz="1500" b="1" dirty="0"/>
              <a:t>= </a:t>
            </a:r>
            <a:r>
              <a:rPr lang="ko-KR" altLang="en-US" sz="1500" b="1" dirty="0"/>
              <a:t>응용 스테이지로 마무리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3044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4CF2-CA99-AB57-544F-E8CC2B42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556A4C-B6E7-D347-5B28-B99C7B7ABCC1}"/>
              </a:ext>
            </a:extLst>
          </p:cNvPr>
          <p:cNvSpPr txBox="1"/>
          <p:nvPr/>
        </p:nvSpPr>
        <p:spPr>
          <a:xfrm>
            <a:off x="421846" y="270646"/>
            <a:ext cx="615016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01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흐름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 요약</a:t>
            </a:r>
            <a:endParaRPr lang="ko-KR" altLang="en-US" sz="3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8865F-2831-6DCE-0BBE-4CBD89635F28}"/>
              </a:ext>
            </a:extLst>
          </p:cNvPr>
          <p:cNvSpPr txBox="1"/>
          <p:nvPr/>
        </p:nvSpPr>
        <p:spPr>
          <a:xfrm>
            <a:off x="901016" y="893502"/>
            <a:ext cx="6538847" cy="544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300000"/>
              </a:lnSpc>
              <a:buAutoNum type="arabicParenR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 조작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응용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lnSpc>
                <a:spcPct val="300000"/>
              </a:lnSpc>
              <a:buAutoNum type="arabicParenR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몬스터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+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눈물 스킬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가스레인지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(HP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감소 요소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크기변화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무게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기믹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탐사 구간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휴식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스토리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기름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상태이상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),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냄비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(HP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감소 요소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추격 스테이지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04439C98-DD4A-A667-461B-F1D03EFDC227}"/>
                  </a:ext>
                </a:extLst>
              </p14:cNvPr>
              <p14:cNvContentPartPr/>
              <p14:nvPr/>
            </p14:nvContentPartPr>
            <p14:xfrm>
              <a:off x="6572010" y="1504935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04439C98-DD4A-A667-461B-F1D03EFDC2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5890" y="1498815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89B686FE-CD9F-140D-2202-F76F86727199}"/>
              </a:ext>
            </a:extLst>
          </p:cNvPr>
          <p:cNvGrpSpPr/>
          <p:nvPr/>
        </p:nvGrpSpPr>
        <p:grpSpPr>
          <a:xfrm>
            <a:off x="3075489" y="270646"/>
            <a:ext cx="8891585" cy="6163366"/>
            <a:chOff x="3050460" y="330178"/>
            <a:chExt cx="8891585" cy="6163366"/>
          </a:xfrm>
        </p:grpSpPr>
        <p:pic>
          <p:nvPicPr>
            <p:cNvPr id="54" name="그래픽 53" descr="어두움(중간 태양) 단색으로 채워진">
              <a:extLst>
                <a:ext uri="{FF2B5EF4-FFF2-40B4-BE49-F238E27FC236}">
                  <a16:creationId xmlns:a16="http://schemas.microsoft.com/office/drawing/2014/main" id="{44A83AB7-8E2B-F191-408D-706A7A50BA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97718" y="398759"/>
              <a:ext cx="598170" cy="598170"/>
            </a:xfrm>
            <a:prstGeom prst="rect">
              <a:avLst/>
            </a:prstGeom>
          </p:spPr>
        </p:pic>
        <p:pic>
          <p:nvPicPr>
            <p:cNvPr id="55" name="그래픽 54" descr="달과 별 단색으로 채워진">
              <a:extLst>
                <a:ext uri="{FF2B5EF4-FFF2-40B4-BE49-F238E27FC236}">
                  <a16:creationId xmlns:a16="http://schemas.microsoft.com/office/drawing/2014/main" id="{46DC96B9-BB06-2F4B-3B18-316C119A4D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20943" y="383802"/>
              <a:ext cx="598170" cy="59817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61889F8-1125-3A7B-91CE-9685A08D4451}"/>
                </a:ext>
              </a:extLst>
            </p:cNvPr>
            <p:cNvSpPr txBox="1"/>
            <p:nvPr/>
          </p:nvSpPr>
          <p:spPr>
            <a:xfrm>
              <a:off x="7172649" y="472820"/>
              <a:ext cx="1738821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기본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낮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) </a:t>
              </a:r>
              <a:r>
                <a:rPr lang="ko-KR" altLang="en-US" sz="15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라이팅</a:t>
              </a:r>
              <a:endPara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CAF461-18F9-2254-E9D1-A1D79359B3BD}"/>
                </a:ext>
              </a:extLst>
            </p:cNvPr>
            <p:cNvSpPr txBox="1"/>
            <p:nvPr/>
          </p:nvSpPr>
          <p:spPr>
            <a:xfrm>
              <a:off x="9719113" y="486444"/>
              <a:ext cx="2222932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>
                  <a:latin typeface="HY견고딕" panose="02030600000101010101" pitchFamily="18" charset="-127"/>
                  <a:ea typeface="HY견고딕" panose="02030600000101010101" pitchFamily="18" charset="-127"/>
                </a:rPr>
                <a:t>버그 컨셉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밤</a:t>
              </a:r>
              <a:r>
                <a:rPr lang="en-US" altLang="ko-KR" sz="15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) </a:t>
              </a:r>
              <a:r>
                <a:rPr lang="ko-KR" altLang="en-US" sz="15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라이팅</a:t>
              </a:r>
              <a:endPara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8F9369C-007B-6C30-88AA-D582C28093DC}"/>
                </a:ext>
              </a:extLst>
            </p:cNvPr>
            <p:cNvSpPr/>
            <p:nvPr/>
          </p:nvSpPr>
          <p:spPr>
            <a:xfrm>
              <a:off x="6572010" y="330178"/>
              <a:ext cx="5317144" cy="731049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8" name="그래픽 67" descr="달과 별 단색으로 채워진">
              <a:extLst>
                <a:ext uri="{FF2B5EF4-FFF2-40B4-BE49-F238E27FC236}">
                  <a16:creationId xmlns:a16="http://schemas.microsoft.com/office/drawing/2014/main" id="{A2C512FA-7B80-059C-01D9-2FF2D32B1A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18784" y="4933809"/>
              <a:ext cx="598170" cy="598170"/>
            </a:xfrm>
            <a:prstGeom prst="rect">
              <a:avLst/>
            </a:prstGeom>
          </p:spPr>
        </p:pic>
        <p:pic>
          <p:nvPicPr>
            <p:cNvPr id="70" name="그래픽 69" descr="달과 별 단색으로 채워진">
              <a:extLst>
                <a:ext uri="{FF2B5EF4-FFF2-40B4-BE49-F238E27FC236}">
                  <a16:creationId xmlns:a16="http://schemas.microsoft.com/office/drawing/2014/main" id="{A23D7D27-181D-F1A7-24A1-31852D0960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50460" y="5895374"/>
              <a:ext cx="598170" cy="598170"/>
            </a:xfrm>
            <a:prstGeom prst="rect">
              <a:avLst/>
            </a:prstGeom>
          </p:spPr>
        </p:pic>
      </p:grpSp>
      <p:pic>
        <p:nvPicPr>
          <p:cNvPr id="62" name="그래픽 61" descr="어두움(중간 태양) 단색으로 채워진">
            <a:extLst>
              <a:ext uri="{FF2B5EF4-FFF2-40B4-BE49-F238E27FC236}">
                <a16:creationId xmlns:a16="http://schemas.microsoft.com/office/drawing/2014/main" id="{EE285104-6B5E-621F-8576-A2FE88684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5518" y="1205850"/>
            <a:ext cx="598170" cy="598170"/>
          </a:xfrm>
          <a:prstGeom prst="rect">
            <a:avLst/>
          </a:prstGeom>
        </p:spPr>
      </p:pic>
      <p:pic>
        <p:nvPicPr>
          <p:cNvPr id="63" name="그래픽 62" descr="어두움(중간 태양) 단색으로 채워진">
            <a:extLst>
              <a:ext uri="{FF2B5EF4-FFF2-40B4-BE49-F238E27FC236}">
                <a16:creationId xmlns:a16="http://schemas.microsoft.com/office/drawing/2014/main" id="{BB2A1994-09AF-293B-2145-3C22C7DE9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5888" y="2160419"/>
            <a:ext cx="598170" cy="598170"/>
          </a:xfrm>
          <a:prstGeom prst="rect">
            <a:avLst/>
          </a:prstGeom>
        </p:spPr>
      </p:pic>
      <p:pic>
        <p:nvPicPr>
          <p:cNvPr id="67" name="그래픽 66" descr="어두움(중간 태양) 단색으로 채워진">
            <a:extLst>
              <a:ext uri="{FF2B5EF4-FFF2-40B4-BE49-F238E27FC236}">
                <a16:creationId xmlns:a16="http://schemas.microsoft.com/office/drawing/2014/main" id="{B224B0B8-CC19-42CD-6436-9BA1AF384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5086" y="3943824"/>
            <a:ext cx="598170" cy="59817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F26C969-D026-392E-05DE-E242CF4A6686}"/>
              </a:ext>
            </a:extLst>
          </p:cNvPr>
          <p:cNvSpPr txBox="1"/>
          <p:nvPr/>
        </p:nvSpPr>
        <p:spPr>
          <a:xfrm>
            <a:off x="7295888" y="2758589"/>
            <a:ext cx="4670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스테이지 증가 가능성 다분합니다</a:t>
            </a:r>
            <a:r>
              <a:rPr lang="en-US" altLang="ko-KR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. </a:t>
            </a:r>
          </a:p>
          <a:p>
            <a:pPr algn="ctr"/>
            <a:r>
              <a:rPr lang="en-US" altLang="ko-KR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ex) 2-1, 2-2</a:t>
            </a:r>
            <a:r>
              <a:rPr lang="ko-KR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br>
              <a:rPr lang="en-US" altLang="ko-KR" sz="1500" b="1" dirty="0">
                <a:solidFill>
                  <a:srgbClr val="C00000"/>
                </a:solidFill>
                <a:highlight>
                  <a:srgbClr val="FFFF00"/>
                </a:highlight>
              </a:rPr>
            </a:br>
            <a:r>
              <a:rPr lang="ko-KR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동일 목적을 가지고 있지만 </a:t>
            </a:r>
            <a:endParaRPr lang="en-US" altLang="ko-KR" sz="15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스테이지 구분은 체크포인트가 기준이기에 </a:t>
            </a:r>
            <a:endParaRPr lang="en-US" altLang="ko-KR" sz="15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5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밸런싱</a:t>
            </a:r>
            <a:r>
              <a:rPr lang="ko-KR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 단계에서 해당 부분이 증가할 수 있습니다</a:t>
            </a:r>
            <a:r>
              <a:rPr lang="en-US" altLang="ko-KR" sz="1500" b="1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en-US" altLang="ko-KR" sz="15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500" b="1" dirty="0">
                <a:solidFill>
                  <a:srgbClr val="C00000"/>
                </a:solidFill>
              </a:rPr>
              <a:t>하여 해당 페이지의 스테이지 구분은</a:t>
            </a:r>
            <a:endParaRPr lang="en-US" altLang="ko-KR" sz="15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500" b="1" dirty="0">
                <a:solidFill>
                  <a:srgbClr val="C00000"/>
                </a:solidFill>
              </a:rPr>
              <a:t> </a:t>
            </a:r>
            <a:r>
              <a:rPr lang="en-US" altLang="ko-KR" sz="1500" b="1" dirty="0">
                <a:solidFill>
                  <a:srgbClr val="C00000"/>
                </a:solidFill>
              </a:rPr>
              <a:t>‘</a:t>
            </a:r>
            <a:r>
              <a:rPr lang="ko-KR" altLang="en-US" sz="1500" b="1" dirty="0">
                <a:solidFill>
                  <a:srgbClr val="C00000"/>
                </a:solidFill>
              </a:rPr>
              <a:t>큰 틀</a:t>
            </a:r>
            <a:r>
              <a:rPr lang="en-US" altLang="ko-KR" sz="1500" b="1" dirty="0">
                <a:solidFill>
                  <a:srgbClr val="C00000"/>
                </a:solidFill>
              </a:rPr>
              <a:t>’</a:t>
            </a:r>
            <a:r>
              <a:rPr lang="ko-KR" altLang="en-US" sz="1500" b="1" dirty="0">
                <a:solidFill>
                  <a:srgbClr val="C00000"/>
                </a:solidFill>
              </a:rPr>
              <a:t>이라 봐주시면 감사하겠습니다</a:t>
            </a:r>
            <a:r>
              <a:rPr lang="en-US" altLang="ko-KR" sz="1500" b="1" dirty="0">
                <a:solidFill>
                  <a:srgbClr val="C00000"/>
                </a:solidFill>
              </a:rPr>
              <a:t>.  </a:t>
            </a:r>
            <a:endParaRPr lang="ko-KR" altLang="en-US" sz="1500" b="1" dirty="0">
              <a:solidFill>
                <a:srgbClr val="C00000"/>
              </a:solidFill>
            </a:endParaRPr>
          </a:p>
        </p:txBody>
      </p:sp>
      <p:pic>
        <p:nvPicPr>
          <p:cNvPr id="4" name="그래픽 3" descr="어두움(중간 태양) 단색으로 채워진">
            <a:extLst>
              <a:ext uri="{FF2B5EF4-FFF2-40B4-BE49-F238E27FC236}">
                <a16:creationId xmlns:a16="http://schemas.microsoft.com/office/drawing/2014/main" id="{20D3046E-A7DA-1140-6B9D-7D174E5D5F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3870" y="3021883"/>
            <a:ext cx="598170" cy="5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10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495E0-527E-E5B5-7C2A-28A2E506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1319DB-6C82-41CA-3FDC-9C9004044E24}"/>
              </a:ext>
            </a:extLst>
          </p:cNvPr>
          <p:cNvSpPr txBox="1"/>
          <p:nvPr/>
        </p:nvSpPr>
        <p:spPr>
          <a:xfrm>
            <a:off x="421846" y="270646"/>
            <a:ext cx="70707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01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흐름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특이사항</a:t>
            </a:r>
            <a:endParaRPr lang="ko-KR" altLang="en-US" sz="3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5AB2E-1A4C-ADC4-9B60-107D848E9F93}"/>
              </a:ext>
            </a:extLst>
          </p:cNvPr>
          <p:cNvSpPr txBox="1"/>
          <p:nvPr/>
        </p:nvSpPr>
        <p:spPr>
          <a:xfrm>
            <a:off x="901016" y="931602"/>
            <a:ext cx="10795684" cy="171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50000"/>
              </a:lnSpc>
              <a:buAutoNum type="arabicParenR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눈물 오브젝트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보상</a:t>
            </a:r>
            <a:r>
              <a:rPr lang="en-US" altLang="ko-KR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20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학습 의도 전달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역할 수행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(ex RPG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게임의 몬스터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보물상자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sz="15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탐사 구간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진입 경로의 경우 </a:t>
            </a:r>
            <a:b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1_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낮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컨셉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밀폐용기 및 지형 플랫폼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오브젝트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활용하여 앞을 막고 점프를 누르도록 눈물로 동선을 유도한다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64973F40-A19F-0DCA-1637-F28FF8C901B4}"/>
                  </a:ext>
                </a:extLst>
              </p14:cNvPr>
              <p14:cNvContentPartPr/>
              <p14:nvPr/>
            </p14:nvContentPartPr>
            <p14:xfrm>
              <a:off x="6572010" y="1504935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64973F40-A19F-0DCA-1637-F28FF8C901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5890" y="149881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5087E8F-9BDC-61BC-03BA-EEEEA5F3F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964" y="2780066"/>
            <a:ext cx="6712364" cy="36207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896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878573-B65E-DCB4-8376-A8586544E1A2}"/>
              </a:ext>
            </a:extLst>
          </p:cNvPr>
          <p:cNvSpPr txBox="1"/>
          <p:nvPr/>
        </p:nvSpPr>
        <p:spPr>
          <a:xfrm>
            <a:off x="421845" y="270646"/>
            <a:ext cx="885980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02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스테이지별 구성 요소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37037-2FDF-BDC7-9996-2972293F8652}"/>
              </a:ext>
            </a:extLst>
          </p:cNvPr>
          <p:cNvSpPr txBox="1"/>
          <p:nvPr/>
        </p:nvSpPr>
        <p:spPr>
          <a:xfrm>
            <a:off x="1380186" y="989585"/>
            <a:ext cx="10389968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스테이지별 파트 분배 후 작성예정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ABB50-554F-58F0-7BCE-DDC5266354E4}"/>
              </a:ext>
            </a:extLst>
          </p:cNvPr>
          <p:cNvSpPr txBox="1"/>
          <p:nvPr/>
        </p:nvSpPr>
        <p:spPr>
          <a:xfrm>
            <a:off x="544443" y="1630656"/>
            <a:ext cx="11391917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해당 페이지는 스테이지의 길이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요소 배치로 인한 플레이어의 경험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학습흐름의 의도를 명시한다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chemeClr val="bg1">
                  <a:lumMod val="6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EX)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기본 조작 및 이동 스테이지 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플레이어가 게임의 조작키와 </a:t>
            </a:r>
            <a:r>
              <a:rPr lang="ko-KR" altLang="en-US" sz="1500" dirty="0" err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점프감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이동속도에 적응하여 이를 전체 플레이에 응용하고자 기획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기초 튜토리얼인 만큼 길이가 길어질 시 </a:t>
            </a:r>
            <a:r>
              <a:rPr lang="ko-KR" altLang="en-US" sz="1500" dirty="0" err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루즈해질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것을 염려하여 가장 짧은 길이로 구성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(Excel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스테이지 전체 </a:t>
            </a:r>
            <a:r>
              <a:rPr lang="ko-KR" altLang="en-US" sz="1500" dirty="0" err="1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캡처본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첨부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2844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2C3E-B880-580C-3AFF-AA93DCDD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7F3597-ADC0-26E3-B22C-7DB42601AC26}"/>
              </a:ext>
            </a:extLst>
          </p:cNvPr>
          <p:cNvSpPr txBox="1"/>
          <p:nvPr/>
        </p:nvSpPr>
        <p:spPr>
          <a:xfrm>
            <a:off x="421845" y="270646"/>
            <a:ext cx="9223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02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스테이지별 구성 요소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등장 요소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B8969-5F7F-4329-59C1-FEAFBFF23069}"/>
              </a:ext>
            </a:extLst>
          </p:cNvPr>
          <p:cNvSpPr txBox="1"/>
          <p:nvPr/>
        </p:nvSpPr>
        <p:spPr>
          <a:xfrm>
            <a:off x="1380186" y="989585"/>
            <a:ext cx="10389968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스테이지별 파트 분배 후 작성예정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D4457-BDFF-4135-1B15-691A1362DB80}"/>
              </a:ext>
            </a:extLst>
          </p:cNvPr>
          <p:cNvSpPr txBox="1"/>
          <p:nvPr/>
        </p:nvSpPr>
        <p:spPr>
          <a:xfrm>
            <a:off x="544443" y="1630656"/>
            <a:ext cx="11391917" cy="280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해당 페이지는 스테이지의 포함될 요소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플랫폼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오브젝트 등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들을 명시한다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b="1" u="sng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이때 개수는 확정이 아니며</a:t>
            </a:r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‘</a:t>
            </a:r>
            <a:r>
              <a:rPr lang="ko-KR" altLang="en-US" sz="2000" b="1" u="sng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종류</a:t>
            </a:r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2000" b="1" u="sng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 초점을 맞춰 명시하도록 한다</a:t>
            </a:r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2000" b="1" u="sng" dirty="0">
              <a:solidFill>
                <a:schemeClr val="bg1">
                  <a:lumMod val="6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EX)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기본 조작 및 이동 스테이지 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기본 조작이 핵심 학습인 만큼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학습 정보가 섞이지 않고 분리되도록 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HP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감소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무게 발판과 같은 타 기능이 존재하는 요소는 배치하지 않는다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하여 해당 스테이지는 아래와 같은 요소들만 구성한다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일반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이동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소멸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체크포인트</a:t>
            </a:r>
            <a:r>
              <a:rPr lang="en-US" altLang="ko-KR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solidFill>
                  <a:schemeClr val="bg1">
                    <a:lumMod val="6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눈물 조각</a:t>
            </a:r>
            <a:endParaRPr lang="en-US" altLang="ko-KR" sz="1500" dirty="0">
              <a:solidFill>
                <a:schemeClr val="bg1">
                  <a:lumMod val="6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7654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F343-B21D-8059-D0D3-EB23E7E7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33F1EA-C841-F05E-C027-DE6EB8837824}"/>
              </a:ext>
            </a:extLst>
          </p:cNvPr>
          <p:cNvSpPr txBox="1"/>
          <p:nvPr/>
        </p:nvSpPr>
        <p:spPr>
          <a:xfrm>
            <a:off x="421846" y="270646"/>
            <a:ext cx="880873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03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스테이지별 컨셉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버그 오브젝트 배치 </a:t>
            </a:r>
            <a:endParaRPr lang="ko-KR" altLang="en-US" sz="3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6B7F6-70C7-96C9-C3D3-E542FC93DB8F}"/>
              </a:ext>
            </a:extLst>
          </p:cNvPr>
          <p:cNvSpPr txBox="1"/>
          <p:nvPr/>
        </p:nvSpPr>
        <p:spPr>
          <a:xfrm>
            <a:off x="1010616" y="893502"/>
            <a:ext cx="7214284" cy="544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300000"/>
              </a:lnSpc>
              <a:buAutoNum type="arabicParenR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 조작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응용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lnSpc>
                <a:spcPct val="300000"/>
              </a:lnSpc>
              <a:buAutoNum type="arabicParenR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몬스터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+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눈물 스킬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가스레인지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크기변화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기믹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탐사 구간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냄비스테이지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3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추격 스테이지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100EBE-7879-63BA-F384-3D1F4ABB3FCD}"/>
              </a:ext>
            </a:extLst>
          </p:cNvPr>
          <p:cNvGrpSpPr/>
          <p:nvPr/>
        </p:nvGrpSpPr>
        <p:grpSpPr>
          <a:xfrm>
            <a:off x="7829550" y="1195627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1A1E0CF7-AC31-3917-EEB5-C16B73ABE4A5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</a:t>
              </a:r>
              <a:r>
                <a:rPr lang="en-US" altLang="ko-KR" b="1" dirty="0">
                  <a:solidFill>
                    <a:schemeClr val="tx1"/>
                  </a:solidFill>
                </a:rPr>
                <a:t>X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4DE5FEB0-DAD0-D981-70C1-2EC6B942F19A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D44464F-ACCA-8BFA-B10A-DBA0133FA3DD}"/>
              </a:ext>
            </a:extLst>
          </p:cNvPr>
          <p:cNvGrpSpPr/>
          <p:nvPr/>
        </p:nvGrpSpPr>
        <p:grpSpPr>
          <a:xfrm>
            <a:off x="7829550" y="2040645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77C8DB7-B177-9EED-CA93-BA65FA94517E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시작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681F72A2-1E47-3B17-EC5E-81D5813FF012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49CB01D-4068-4141-80A7-1B2C6A2EFDF0}"/>
              </a:ext>
            </a:extLst>
          </p:cNvPr>
          <p:cNvGrpSpPr/>
          <p:nvPr/>
        </p:nvGrpSpPr>
        <p:grpSpPr>
          <a:xfrm>
            <a:off x="7829550" y="2942368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92D505A-AF8D-55AB-A0CC-ABA4483B5F06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증가</a:t>
              </a:r>
            </a:p>
          </p:txBody>
        </p:sp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74A1FF5A-79F6-D05C-AEA3-73828A7B6CD7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D9F5136-EEBE-92DD-C77E-EF36466D559A}"/>
              </a:ext>
            </a:extLst>
          </p:cNvPr>
          <p:cNvGrpSpPr/>
          <p:nvPr/>
        </p:nvGrpSpPr>
        <p:grpSpPr>
          <a:xfrm>
            <a:off x="7829550" y="3868108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56F02A2D-DD88-D441-7516-90DBA694B082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증가</a:t>
              </a: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8A9EFDE1-DBAB-EBF0-6F36-F3B70ADE0A02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0798CC1-4777-1913-FEEC-C711CC789A00}"/>
              </a:ext>
            </a:extLst>
          </p:cNvPr>
          <p:cNvGrpSpPr/>
          <p:nvPr/>
        </p:nvGrpSpPr>
        <p:grpSpPr>
          <a:xfrm>
            <a:off x="7829550" y="4862262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BDE36BE-CA03-6F99-687E-6378577F8719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오브젝트만 배치 </a:t>
              </a:r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0BFB94FD-F23C-3F00-B0D7-43B1A7032F8C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A04013D-4626-B4EB-C6CB-BFA50DBD09CE}"/>
              </a:ext>
            </a:extLst>
          </p:cNvPr>
          <p:cNvGrpSpPr/>
          <p:nvPr/>
        </p:nvGrpSpPr>
        <p:grpSpPr>
          <a:xfrm>
            <a:off x="7829550" y="5809489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F1BCCB5-373B-9431-D548-5E981A944030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오브젝트만 배치</a:t>
              </a:r>
            </a:p>
          </p:txBody>
        </p:sp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65E3333F-0CAC-56E8-E7FF-2E10736273F8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34" name="그래픽 33" descr="달과 별 단색으로 채워진">
            <a:extLst>
              <a:ext uri="{FF2B5EF4-FFF2-40B4-BE49-F238E27FC236}">
                <a16:creationId xmlns:a16="http://schemas.microsoft.com/office/drawing/2014/main" id="{343BBA35-FE34-10DF-817E-F048340A2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0984" y="3613624"/>
            <a:ext cx="598170" cy="598170"/>
          </a:xfrm>
          <a:prstGeom prst="rect">
            <a:avLst/>
          </a:prstGeom>
        </p:spPr>
      </p:pic>
      <p:pic>
        <p:nvPicPr>
          <p:cNvPr id="39" name="그래픽 38" descr="어두움(중간 태양) 단색으로 채워진">
            <a:extLst>
              <a:ext uri="{FF2B5EF4-FFF2-40B4-BE49-F238E27FC236}">
                <a16:creationId xmlns:a16="http://schemas.microsoft.com/office/drawing/2014/main" id="{AD0EC710-50AD-A796-6F36-5FAED1DD37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5099" y="1758133"/>
            <a:ext cx="598170" cy="598170"/>
          </a:xfrm>
          <a:prstGeom prst="rect">
            <a:avLst/>
          </a:prstGeom>
        </p:spPr>
      </p:pic>
      <p:pic>
        <p:nvPicPr>
          <p:cNvPr id="41" name="그래픽 40" descr="어두움(중간 태양) 단색으로 채워진">
            <a:extLst>
              <a:ext uri="{FF2B5EF4-FFF2-40B4-BE49-F238E27FC236}">
                <a16:creationId xmlns:a16="http://schemas.microsoft.com/office/drawing/2014/main" id="{7578D697-68D3-C14F-9EDE-6F189D540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1384" y="2632424"/>
            <a:ext cx="598170" cy="598170"/>
          </a:xfrm>
          <a:prstGeom prst="rect">
            <a:avLst/>
          </a:prstGeom>
        </p:spPr>
      </p:pic>
      <p:pic>
        <p:nvPicPr>
          <p:cNvPr id="44" name="그래픽 43" descr="달과 별 단색으로 채워진">
            <a:extLst>
              <a:ext uri="{FF2B5EF4-FFF2-40B4-BE49-F238E27FC236}">
                <a16:creationId xmlns:a16="http://schemas.microsoft.com/office/drawing/2014/main" id="{4B54F3B4-72D6-8373-26C5-58AF6E3F7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0984" y="4684664"/>
            <a:ext cx="598170" cy="598170"/>
          </a:xfrm>
          <a:prstGeom prst="rect">
            <a:avLst/>
          </a:prstGeom>
        </p:spPr>
      </p:pic>
      <p:pic>
        <p:nvPicPr>
          <p:cNvPr id="45" name="그래픽 44" descr="달과 별 단색으로 채워진">
            <a:extLst>
              <a:ext uri="{FF2B5EF4-FFF2-40B4-BE49-F238E27FC236}">
                <a16:creationId xmlns:a16="http://schemas.microsoft.com/office/drawing/2014/main" id="{89F1C292-47D9-7383-881F-FD631B72A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95099" y="5706602"/>
            <a:ext cx="598170" cy="598170"/>
          </a:xfrm>
          <a:prstGeom prst="rect">
            <a:avLst/>
          </a:prstGeom>
        </p:spPr>
      </p:pic>
      <p:pic>
        <p:nvPicPr>
          <p:cNvPr id="36" name="그래픽 35" descr="어두움(중간 태양) 단색으로 채워진">
            <a:extLst>
              <a:ext uri="{FF2B5EF4-FFF2-40B4-BE49-F238E27FC236}">
                <a16:creationId xmlns:a16="http://schemas.microsoft.com/office/drawing/2014/main" id="{BA8F2911-5654-D930-68A4-54C8D7AE0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1114" y="883842"/>
            <a:ext cx="598170" cy="5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9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8EB3-C9B5-0256-A3B8-F0A996BF7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0671964-41A9-C1C4-6CA4-3A160D3630A2}"/>
              </a:ext>
            </a:extLst>
          </p:cNvPr>
          <p:cNvSpPr/>
          <p:nvPr/>
        </p:nvSpPr>
        <p:spPr>
          <a:xfrm>
            <a:off x="495300" y="4820150"/>
            <a:ext cx="11201400" cy="1852709"/>
          </a:xfrm>
          <a:prstGeom prst="roundRect">
            <a:avLst>
              <a:gd name="adj" fmla="val 3576"/>
            </a:avLst>
          </a:prstGeom>
          <a:solidFill>
            <a:schemeClr val="tx1">
              <a:alpha val="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D7DB3-485E-20F1-A5B1-3E39CC53F55D}"/>
              </a:ext>
            </a:extLst>
          </p:cNvPr>
          <p:cNvSpPr txBox="1"/>
          <p:nvPr/>
        </p:nvSpPr>
        <p:spPr>
          <a:xfrm>
            <a:off x="421846" y="270646"/>
            <a:ext cx="880873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03 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스테이지별 컨셉</a:t>
            </a:r>
            <a:r>
              <a:rPr lang="en-US" altLang="ko-KR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3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컨셉 변화 연출</a:t>
            </a:r>
            <a:endParaRPr lang="ko-KR" altLang="en-US" sz="3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B0997-3F75-5967-62AB-C54C93E59C23}"/>
              </a:ext>
            </a:extLst>
          </p:cNvPr>
          <p:cNvSpPr txBox="1"/>
          <p:nvPr/>
        </p:nvSpPr>
        <p:spPr>
          <a:xfrm>
            <a:off x="1666571" y="1427979"/>
            <a:ext cx="66519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몬스터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+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눈물 스킬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가스레인지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크기변화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기믹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B03A001-8592-EE3F-FBC1-EB94131F36E8}"/>
              </a:ext>
            </a:extLst>
          </p:cNvPr>
          <p:cNvGrpSpPr/>
          <p:nvPr/>
        </p:nvGrpSpPr>
        <p:grpSpPr>
          <a:xfrm>
            <a:off x="7217109" y="2038300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087FF82-2BF5-CE7E-89D3-1288997351BA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증가</a:t>
              </a:r>
            </a:p>
          </p:txBody>
        </p:sp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80A2A5C2-86A3-8816-6B54-718FE031C493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11136EA-FF00-07C8-FD82-DAEF86C8B867}"/>
              </a:ext>
            </a:extLst>
          </p:cNvPr>
          <p:cNvGrpSpPr/>
          <p:nvPr/>
        </p:nvGrpSpPr>
        <p:grpSpPr>
          <a:xfrm>
            <a:off x="7217109" y="3532866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39AB6C4-40D3-678F-2EEB-11977F1CFAD9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증가</a:t>
              </a: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924AE1C3-A2BD-8D44-51AC-0702E27B3FF6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34" name="그래픽 33" descr="달과 별 단색으로 채워진">
            <a:extLst>
              <a:ext uri="{FF2B5EF4-FFF2-40B4-BE49-F238E27FC236}">
                <a16:creationId xmlns:a16="http://schemas.microsoft.com/office/drawing/2014/main" id="{30F4BA8A-3BD7-AB08-D6BC-43105156A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2658" y="3113941"/>
            <a:ext cx="598170" cy="598170"/>
          </a:xfrm>
          <a:prstGeom prst="rect">
            <a:avLst/>
          </a:prstGeom>
        </p:spPr>
      </p:pic>
      <p:pic>
        <p:nvPicPr>
          <p:cNvPr id="41" name="그래픽 40" descr="어두움(중간 태양) 단색으로 채워진">
            <a:extLst>
              <a:ext uri="{FF2B5EF4-FFF2-40B4-BE49-F238E27FC236}">
                <a16:creationId xmlns:a16="http://schemas.microsoft.com/office/drawing/2014/main" id="{A1CD15D0-8A2F-B775-876E-CDBC56D43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2658" y="1729914"/>
            <a:ext cx="598170" cy="59817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C91FECD-0694-55DF-23E4-CA46BCBD147B}"/>
              </a:ext>
            </a:extLst>
          </p:cNvPr>
          <p:cNvSpPr txBox="1"/>
          <p:nvPr/>
        </p:nvSpPr>
        <p:spPr>
          <a:xfrm>
            <a:off x="1011172" y="2911872"/>
            <a:ext cx="9390128" cy="400110"/>
          </a:xfrm>
          <a:prstGeom prst="rect">
            <a:avLst/>
          </a:prstGeom>
          <a:gradFill flip="none" rotWithShape="1">
            <a:gsLst>
              <a:gs pos="96330">
                <a:schemeClr val="bg2"/>
              </a:gs>
              <a:gs pos="83000">
                <a:schemeClr val="tx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ko-KR" sz="2000" b="1" i="0" dirty="0" err="1">
                <a:solidFill>
                  <a:schemeClr val="bg1"/>
                </a:solidFill>
                <a:effectLst/>
                <a:latin typeface="+mn-lt"/>
              </a:rPr>
              <a:t>Fade</a:t>
            </a:r>
            <a:r>
              <a:rPr lang="ko-KR" altLang="ko-KR" sz="2000" b="1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ko-KR" altLang="ko-KR" sz="2000" b="1" i="0" dirty="0" err="1">
                <a:solidFill>
                  <a:schemeClr val="bg1"/>
                </a:solidFill>
                <a:effectLst/>
                <a:latin typeface="+mn-lt"/>
              </a:rPr>
              <a:t>In</a:t>
            </a:r>
            <a:r>
              <a:rPr lang="ko-KR" altLang="ko-KR" sz="2000" b="1" i="0" dirty="0">
                <a:solidFill>
                  <a:schemeClr val="bg1"/>
                </a:solidFill>
                <a:effectLst/>
                <a:latin typeface="+mn-lt"/>
              </a:rPr>
              <a:t> / </a:t>
            </a:r>
            <a:r>
              <a:rPr lang="ko-KR" altLang="ko-KR" sz="2000" b="1" i="0" dirty="0" err="1">
                <a:solidFill>
                  <a:schemeClr val="bg1"/>
                </a:solidFill>
                <a:effectLst/>
                <a:latin typeface="+mn-lt"/>
              </a:rPr>
              <a:t>Fade</a:t>
            </a:r>
            <a:r>
              <a:rPr lang="ko-KR" altLang="ko-KR" sz="2000" b="1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ko-KR" altLang="ko-KR" sz="2000" b="1" i="0" dirty="0" err="1">
                <a:solidFill>
                  <a:schemeClr val="bg1"/>
                </a:solidFill>
                <a:effectLst/>
                <a:latin typeface="+mn-lt"/>
              </a:rPr>
              <a:t>Out</a:t>
            </a:r>
            <a:r>
              <a:rPr lang="ko-KR" altLang="ko-KR" sz="2000" b="1" i="0" dirty="0">
                <a:solidFill>
                  <a:schemeClr val="bg1"/>
                </a:solidFill>
                <a:effectLst/>
                <a:latin typeface="+mn-lt"/>
              </a:rPr>
              <a:t> 연출</a:t>
            </a:r>
            <a:r>
              <a:rPr lang="ko-KR" altLang="en-US" sz="2000" b="1" i="0" dirty="0">
                <a:solidFill>
                  <a:schemeClr val="bg1"/>
                </a:solidFill>
                <a:effectLst/>
                <a:latin typeface="+mn-lt"/>
              </a:rPr>
              <a:t>로 </a:t>
            </a:r>
            <a:r>
              <a:rPr lang="en-US" altLang="ko-KR" sz="2000" b="1" i="0" dirty="0">
                <a:solidFill>
                  <a:schemeClr val="bg1"/>
                </a:solidFill>
                <a:effectLst/>
                <a:latin typeface="+mn-lt"/>
              </a:rPr>
              <a:t>(</a:t>
            </a:r>
            <a:r>
              <a:rPr lang="ko-KR" altLang="en-US" sz="2000" b="1" i="0" dirty="0">
                <a:solidFill>
                  <a:schemeClr val="bg1"/>
                </a:solidFill>
                <a:effectLst/>
                <a:latin typeface="+mn-lt"/>
              </a:rPr>
              <a:t>낮</a:t>
            </a:r>
            <a:r>
              <a:rPr lang="en-US" altLang="ko-KR" sz="2000" b="1" i="0" dirty="0">
                <a:solidFill>
                  <a:schemeClr val="bg1"/>
                </a:solidFill>
                <a:effectLst/>
                <a:latin typeface="+mn-lt"/>
              </a:rPr>
              <a:t>-&gt;</a:t>
            </a:r>
            <a:r>
              <a:rPr lang="ko-KR" altLang="en-US" sz="2000" b="1" i="0" dirty="0">
                <a:solidFill>
                  <a:schemeClr val="bg1"/>
                </a:solidFill>
                <a:effectLst/>
                <a:latin typeface="+mn-lt"/>
              </a:rPr>
              <a:t>밤으로</a:t>
            </a:r>
            <a:r>
              <a:rPr lang="en-US" altLang="ko-KR" sz="2000" b="1" i="0" dirty="0">
                <a:solidFill>
                  <a:schemeClr val="bg1"/>
                </a:solidFill>
                <a:effectLst/>
                <a:latin typeface="+mn-lt"/>
              </a:rPr>
              <a:t>)</a:t>
            </a:r>
            <a:r>
              <a:rPr lang="ko-KR" altLang="en-US" sz="2000" b="1" i="0" dirty="0" err="1">
                <a:solidFill>
                  <a:schemeClr val="bg1"/>
                </a:solidFill>
                <a:effectLst/>
                <a:latin typeface="+mn-lt"/>
              </a:rPr>
              <a:t>라이팅</a:t>
            </a:r>
            <a:r>
              <a:rPr lang="ko-KR" altLang="en-US" sz="2000" b="1" i="0" dirty="0">
                <a:solidFill>
                  <a:schemeClr val="bg1"/>
                </a:solidFill>
                <a:effectLst/>
                <a:latin typeface="+mn-lt"/>
              </a:rPr>
              <a:t> 전환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BBE74-9D89-DD18-9A92-6DC6CF40252A}"/>
              </a:ext>
            </a:extLst>
          </p:cNvPr>
          <p:cNvSpPr txBox="1"/>
          <p:nvPr/>
        </p:nvSpPr>
        <p:spPr>
          <a:xfrm>
            <a:off x="1666571" y="3317932"/>
            <a:ext cx="3867834" cy="182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기름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냄비 스테이지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5)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추격 스테이지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200000"/>
              </a:lnSpc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332A2-332C-D85B-27F0-2318ADF7E855}"/>
              </a:ext>
            </a:extLst>
          </p:cNvPr>
          <p:cNvSpPr txBox="1"/>
          <p:nvPr/>
        </p:nvSpPr>
        <p:spPr>
          <a:xfrm>
            <a:off x="901016" y="4822221"/>
            <a:ext cx="10795684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기획의도 </a:t>
            </a:r>
            <a:b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몬스터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버그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등장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= 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버그 오브젝트 배치 시작으로 플레이어에게 간접적인 연결 고리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버그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=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위험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전달</a:t>
            </a:r>
            <a:b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이후 추격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버그 몬스터 다수 등장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스테이지에 가까워질 수록 자연스럽게 버그 오브젝트 배치를 증가시켜 </a:t>
            </a:r>
            <a:b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스테이지 도달 시 동떨어진 느낌을 받지 않고 몰입감과 통일감을 느낄 수 있도록 하고자 함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b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또한 탐사구간을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크기 변화 </a:t>
            </a:r>
            <a:r>
              <a:rPr lang="ko-KR" altLang="en-US" sz="15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기믹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스테이지 이후에 배치하여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15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포포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 대한 단서를 확인하고 버그 스테이지로 이동</a:t>
            </a:r>
            <a:b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en-US" altLang="ko-KR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E2BA447-430C-E478-E236-9DEB672D5F30}"/>
              </a:ext>
            </a:extLst>
          </p:cNvPr>
          <p:cNvGrpSpPr/>
          <p:nvPr/>
        </p:nvGrpSpPr>
        <p:grpSpPr>
          <a:xfrm>
            <a:off x="7217109" y="4259976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212F3F3-BB98-9A34-7484-6B52A9CD028B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오브젝트만 배치 </a:t>
              </a: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5961EBAE-79AF-B924-D991-C8F512F3319E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7" name="그래픽 26" descr="달과 별 단색으로 채워진">
            <a:extLst>
              <a:ext uri="{FF2B5EF4-FFF2-40B4-BE49-F238E27FC236}">
                <a16:creationId xmlns:a16="http://schemas.microsoft.com/office/drawing/2014/main" id="{D41B9526-C813-AE10-AC2F-AB156DEB7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8543" y="4082378"/>
            <a:ext cx="598170" cy="598170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A731420A-F9C7-5974-37CA-C517337CA18E}"/>
              </a:ext>
            </a:extLst>
          </p:cNvPr>
          <p:cNvGrpSpPr/>
          <p:nvPr/>
        </p:nvGrpSpPr>
        <p:grpSpPr>
          <a:xfrm>
            <a:off x="7217109" y="1308448"/>
            <a:ext cx="3664634" cy="469028"/>
            <a:chOff x="7804150" y="1283572"/>
            <a:chExt cx="3664634" cy="469028"/>
          </a:xfrm>
          <a:solidFill>
            <a:srgbClr val="C27DDD"/>
          </a:solidFill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082389B-8181-3941-C73E-4C76D925A3DD}"/>
                </a:ext>
              </a:extLst>
            </p:cNvPr>
            <p:cNvSpPr/>
            <p:nvPr/>
          </p:nvSpPr>
          <p:spPr>
            <a:xfrm>
              <a:off x="8594470" y="1283572"/>
              <a:ext cx="2874314" cy="469028"/>
            </a:xfrm>
            <a:prstGeom prst="roundRect">
              <a:avLst>
                <a:gd name="adj" fmla="val 4054"/>
              </a:avLst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</a:rPr>
                <a:t>버그 오브젝트 배치 시작</a:t>
              </a:r>
            </a:p>
          </p:txBody>
        </p:sp>
        <p:sp>
          <p:nvSpPr>
            <p:cNvPr id="37" name="화살표: 오른쪽 36">
              <a:extLst>
                <a:ext uri="{FF2B5EF4-FFF2-40B4-BE49-F238E27FC236}">
                  <a16:creationId xmlns:a16="http://schemas.microsoft.com/office/drawing/2014/main" id="{FBACFDAC-14B0-9472-FAC3-57DDDE2FFC74}"/>
                </a:ext>
              </a:extLst>
            </p:cNvPr>
            <p:cNvSpPr/>
            <p:nvPr/>
          </p:nvSpPr>
          <p:spPr>
            <a:xfrm>
              <a:off x="7804150" y="1350814"/>
              <a:ext cx="622300" cy="308242"/>
            </a:xfrm>
            <a:prstGeom prst="rightArrow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</a:endParaRPr>
            </a:p>
          </p:txBody>
        </p:sp>
      </p:grpSp>
      <p:pic>
        <p:nvPicPr>
          <p:cNvPr id="38" name="그래픽 37" descr="어두움(중간 태양) 단색으로 채워진">
            <a:extLst>
              <a:ext uri="{FF2B5EF4-FFF2-40B4-BE49-F238E27FC236}">
                <a16:creationId xmlns:a16="http://schemas.microsoft.com/office/drawing/2014/main" id="{99AC264D-881A-E6E8-C3D4-CCAC267FA3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2658" y="1184086"/>
            <a:ext cx="598170" cy="5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</TotalTime>
  <Words>983</Words>
  <Application>Microsoft Office PowerPoint</Application>
  <PresentationFormat>와이드스크린</PresentationFormat>
  <Paragraphs>130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김하늘</dc:creator>
  <cp:lastModifiedBy>김하늘</cp:lastModifiedBy>
  <cp:revision>77</cp:revision>
  <dcterms:created xsi:type="dcterms:W3CDTF">2026-09-13T15:07:28Z</dcterms:created>
  <dcterms:modified xsi:type="dcterms:W3CDTF">2026-10-03T15:13:18Z</dcterms:modified>
</cp:coreProperties>
</file>